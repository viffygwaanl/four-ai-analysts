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特斯拉·汽车及服务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毛利结构  379 亿美元</c:v>
                </c:pt>
                <c:pt idx="1">
                  <c:v>营收结构  1,346 亿美元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0.4313145453104778</c:v>
                </c:pt>
                <c:pt idx="1">
                  <c:v>0.6785600154581329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特斯拉·能源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0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毛利结构  379 亿美元</c:v>
                </c:pt>
                <c:pt idx="1">
                  <c:v>营收结构  1,346 亿美元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0.08850796333958427</c:v>
                </c:pt>
                <c:pt idx="1">
                  <c:v>0.08330298683829158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SpaceX·连接(Starlink)</c:v>
                </c:pt>
              </c:strCache>
            </c:strRef>
          </c:tx>
          <c:spPr>
            <a:solidFill>
              <a:srgbClr val="1BAF7A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000">
                    <a:solidFill>
                      <a:srgbClr val="0B0B0B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毛利结构  379 亿美元</c:v>
                </c:pt>
                <c:pt idx="1">
                  <c:v>营收结构  1,346 亿美元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0.2190908850796334</c:v>
                </c:pt>
                <c:pt idx="1">
                  <c:v>0.11908707833854798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SpaceX·SI(AI)</c:v>
                </c:pt>
              </c:strCache>
            </c:strRef>
          </c:tx>
          <c:spPr>
            <a:solidFill>
              <a:srgbClr val="EDA100"/>
            </a:solidFill>
            <a:ln>
              <a:noFill/>
            </a:ln>
          </c:spPr>
          <c:dLbls>
            <c:numFmt formatCode="0%" sourceLinked="0"/>
            <c:txPr>
              <a:bodyPr/>
              <a:lstStyle/>
              <a:p>
                <a:pPr>
                  <a:defRPr sz="1000">
                    <a:solidFill>
                      <a:srgbClr val="0B0B0B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毛利结构  379 亿美元</c:v>
                </c:pt>
                <c:pt idx="1">
                  <c:v>营收结构  1,346 亿美元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0.18544148332056734</c:v>
                </c:pt>
                <c:pt idx="1">
                  <c:v>0.0881559487800709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SpaceX·航天</c:v>
                </c:pt>
              </c:strCache>
            </c:strRef>
          </c:tx>
          <c:spPr>
            <a:solidFill>
              <a:srgbClr val="E87BA4"/>
            </a:solidFill>
            <a:ln>
              <a:noFill/>
            </a:ln>
          </c:spPr>
          <c:dLbls>
            <c:dLbl>
              <c:idx val="1"/>
              <c:delete val="1"/>
            </c:dLbl>
            <c:numFmt formatCode="0%" sourceLinked="0"/>
            <c:txPr>
              <a:bodyPr/>
              <a:lstStyle/>
              <a:p>
                <a:pPr>
                  <a:defRPr sz="1000">
                    <a:solidFill>
                      <a:srgbClr val="0B0B0B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毛利结构  379 亿美元</c:v>
                </c:pt>
                <c:pt idx="1">
                  <c:v>营收结构  1,346 亿美元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0.0756451229497372</c:v>
                </c:pt>
                <c:pt idx="1">
                  <c:v>0.030893970584956562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1050">
                <a:solidFill>
                  <a:srgbClr val="0B0B0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 w="7620">
              <a:solidFill>
                <a:srgbClr val="E1E0D9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solidFill>
              <a:srgbClr val="C3C2B7"/>
            </a:solidFill>
          </a:ln>
        </c:spPr>
        <c:crossAx val="-2068027336"/>
        <c:crosses val="autoZero"/>
        <c:majorUnit val="0.25"/>
      </c:valAx>
    </c:plotArea>
    <c:legend>
      <c:legendPos val="t"/>
      <c:overlay val="0"/>
      <c:txPr>
        <a:bodyPr/>
        <a:lstStyle/>
        <a:p>
          <a:pPr>
            <a:defRPr sz="950">
              <a:solidFill>
                <a:srgbClr val="52514E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52514E"/>
          </a:solidFill>
          <a:latin typeface="Arial"/>
          <a:ea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特斯拉·汽车及服务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2025Q4</c:v>
                </c:pt>
                <c:pt idx="1">
                  <c:v>2026Q1</c:v>
                </c:pt>
                <c:pt idx="2">
                  <c:v>2026Q2</c:v>
                </c:pt>
                <c:pt idx="3">
                  <c:v>2026Q3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210.64</c:v>
                </c:pt>
                <c:pt idx="1">
                  <c:v>199.79</c:v>
                </c:pt>
                <c:pt idx="2">
                  <c:v>250.97</c:v>
                </c:pt>
                <c:pt idx="3">
                  <c:v>251.65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特斯拉·能源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2025Q4</c:v>
                </c:pt>
                <c:pt idx="1">
                  <c:v>2026Q1</c:v>
                </c:pt>
                <c:pt idx="2">
                  <c:v>2026Q2</c:v>
                </c:pt>
                <c:pt idx="3">
                  <c:v>2026Q3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38.37</c:v>
                </c:pt>
                <c:pt idx="1">
                  <c:v>24.08</c:v>
                </c:pt>
                <c:pt idx="2">
                  <c:v>31.39</c:v>
                </c:pt>
                <c:pt idx="3">
                  <c:v>28.81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SpaceX·连接(Starlink)</c:v>
                </c:pt>
              </c:strCache>
            </c:strRef>
          </c:tx>
          <c:spPr>
            <a:solidFill>
              <a:srgbClr val="1BAF7A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0B0B0B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2025Q4</c:v>
                </c:pt>
                <c:pt idx="1">
                  <c:v>2026Q1</c:v>
                </c:pt>
                <c:pt idx="2">
                  <c:v>2026Q2</c:v>
                </c:pt>
                <c:pt idx="3">
                  <c:v>2026Q3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32.28</c:v>
                </c:pt>
                <c:pt idx="1">
                  <c:v>32.57</c:v>
                </c:pt>
                <c:pt idx="2">
                  <c:v>42.91</c:v>
                </c:pt>
                <c:pt idx="3">
                  <c:v>52.48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SpaceX·SI(AI)</c:v>
                </c:pt>
              </c:strCache>
            </c:strRef>
          </c:tx>
          <c:spPr>
            <a:solidFill>
              <a:srgbClr val="EDA100"/>
            </a:solidFill>
            <a:ln>
              <a:noFill/>
            </a:ln>
          </c:spPr>
          <c:dLbls>
            <c:dLbl>
              <c:idx val="0"/>
              <c:delete val="1"/>
            </c:dLbl>
            <c:dLbl>
              <c:idx val="1"/>
              <c:delete val="1"/>
            </c:dLbl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0B0B0B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2025Q4</c:v>
                </c:pt>
                <c:pt idx="1">
                  <c:v>2026Q1</c:v>
                </c:pt>
                <c:pt idx="2">
                  <c:v>2026Q2</c:v>
                </c:pt>
                <c:pt idx="3">
                  <c:v>2026Q3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9.23</c:v>
                </c:pt>
                <c:pt idx="1">
                  <c:v>8.18</c:v>
                </c:pt>
                <c:pt idx="2">
                  <c:v>25.61</c:v>
                </c:pt>
                <c:pt idx="3">
                  <c:v>75.6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SpaceX·航天</c:v>
                </c:pt>
              </c:strCache>
            </c:strRef>
          </c:tx>
          <c:spPr>
            <a:solidFill>
              <a:srgbClr val="E87BA4"/>
            </a:solidFill>
            <a:ln>
              <a:noFill/>
            </a:ln>
          </c:spP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0B0B0B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2025Q4</c:v>
                </c:pt>
                <c:pt idx="1">
                  <c:v>2026Q1</c:v>
                </c:pt>
                <c:pt idx="2">
                  <c:v>2026Q2</c:v>
                </c:pt>
                <c:pt idx="3">
                  <c:v>2026Q3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8.09</c:v>
                </c:pt>
                <c:pt idx="1">
                  <c:v>6.19</c:v>
                </c:pt>
                <c:pt idx="2">
                  <c:v>9.62</c:v>
                </c:pt>
                <c:pt idx="3">
                  <c:v>17.67</c:v>
                </c:pt>
              </c:numCache>
            </c:numRef>
          </c:val>
        </c:ser>
        <c:gapWidth val="7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1050">
                <a:solidFill>
                  <a:srgbClr val="0B0B0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7620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solidFill>
              <a:srgbClr val="C3C2B7"/>
            </a:solidFill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50">
              <a:solidFill>
                <a:srgbClr val="52514E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52514E"/>
          </a:solidFill>
          <a:latin typeface="Arial"/>
          <a:ea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经营现金流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1000">
                    <a:solidFill>
                      <a:srgbClr val="0B0B0B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特斯拉</c:v>
                </c:pt>
                <c:pt idx="1">
                  <c:v>SpaceX</c:v>
                </c:pt>
                <c:pt idx="2">
                  <c:v>合并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187.1</c:v>
                </c:pt>
                <c:pt idx="1">
                  <c:v>157.62</c:v>
                </c:pt>
                <c:pt idx="2">
                  <c:v>341.79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资本开支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1000">
                    <a:solidFill>
                      <a:srgbClr val="0B0B0B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特斯拉</c:v>
                </c:pt>
                <c:pt idx="1">
                  <c:v>SpaceX</c:v>
                </c:pt>
                <c:pt idx="2">
                  <c:v>合并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154.07</c:v>
                </c:pt>
                <c:pt idx="1">
                  <c:v>549.6</c:v>
                </c:pt>
                <c:pt idx="2">
                  <c:v>700.74</c:v>
                </c:pt>
              </c:numCache>
            </c:numRef>
          </c:val>
        </c:ser>
        <c:gapWidth val="9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1100">
                <a:solidFill>
                  <a:srgbClr val="0B0B0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7620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solidFill>
              <a:srgbClr val="C3C2B7"/>
            </a:solidFill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50">
              <a:solidFill>
                <a:srgbClr val="52514E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52514E"/>
          </a:solidFill>
          <a:latin typeface="Arial"/>
          <a:ea typeface="Microsoft YaHe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现金和短期投资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1000">
                    <a:solidFill>
                      <a:srgbClr val="0B0B0B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特斯拉</c:v>
                </c:pt>
                <c:pt idx="1">
                  <c:v>SpaceX</c:v>
                </c:pt>
                <c:pt idx="2">
                  <c:v>合并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454.47</c:v>
                </c:pt>
                <c:pt idx="1">
                  <c:v>898.55</c:v>
                </c:pt>
                <c:pt idx="2">
                  <c:v>1353.02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有息负债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</c:spPr>
          <c:dLbls>
            <c:numFmt formatCode="#,##0" sourceLinked="0"/>
            <c:txPr>
              <a:bodyPr/>
              <a:lstStyle/>
              <a:p>
                <a:pPr>
                  <a:defRPr sz="1000">
                    <a:solidFill>
                      <a:srgbClr val="0B0B0B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特斯拉</c:v>
                </c:pt>
                <c:pt idx="1">
                  <c:v>SpaceX</c:v>
                </c:pt>
                <c:pt idx="2">
                  <c:v>合并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95.23</c:v>
                </c:pt>
                <c:pt idx="1">
                  <c:v>388.44</c:v>
                </c:pt>
                <c:pt idx="2">
                  <c:v>483.67</c:v>
                </c:pt>
              </c:numCache>
            </c:numRef>
          </c:val>
        </c:ser>
        <c:gapWidth val="9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1100">
                <a:solidFill>
                  <a:srgbClr val="0B0B0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7620">
              <a:solidFill>
                <a:srgbClr val="E1E0D9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solidFill>
              <a:srgbClr val="C3C2B7"/>
            </a:solidFill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50">
              <a:solidFill>
                <a:srgbClr val="52514E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52514E"/>
          </a:solidFill>
          <a:latin typeface="Arial"/>
          <a:ea typeface="Microsoft YaHe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特斯拉原股东合并后持股（零溢价）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dLbls>
            <c:numFmt formatCode="0.0%" sourceLinked="0"/>
            <c:txPr>
              <a:bodyPr/>
              <a:lstStyle/>
              <a:p>
                <a:pPr>
                  <a:defRPr sz="1050">
                    <a:solidFill>
                      <a:srgbClr val="0B0B0B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①不受影响日收盘
每股换 2.53 股</c:v>
                </c:pt>
                <c:pt idx="1">
                  <c:v>②30日VWAP
每股换 2.40 股</c:v>
                </c:pt>
                <c:pt idx="2">
                  <c:v>③消息后收盘
每股换 2.43 股</c:v>
                </c:pt>
                <c:pt idx="3">
                  <c:v>④LTM营收贡献
每股换 10.59 股</c:v>
                </c:pt>
                <c:pt idx="4">
                  <c:v>⑤LTM EBITDA贡献
每股换 3.41 股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0.424329857746533</c:v>
                </c:pt>
                <c:pt idx="1">
                  <c:v>0.411224573838946</c:v>
                </c:pt>
                <c:pt idx="2">
                  <c:v>0.414229186069937</c:v>
                </c:pt>
                <c:pt idx="3">
                  <c:v>0.755380114628311</c:v>
                </c:pt>
                <c:pt idx="4">
                  <c:v>0.498190171928215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900">
                <a:solidFill>
                  <a:srgbClr val="0B0B0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"/>
          <c:min val="0.0"/>
        </c:scaling>
        <c:delete val="0"/>
        <c:axPos val="l"/>
        <c:majorGridlines>
          <c:spPr>
            <a:ln w="7620">
              <a:solidFill>
                <a:srgbClr val="E1E0D9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solidFill>
              <a:srgbClr val="C3C2B7"/>
            </a:solidFill>
          </a:ln>
        </c:spPr>
        <c:crossAx val="-2068027336"/>
        <c:crosses val="autoZero"/>
        <c:majorUnit val="0.2"/>
      </c:valAx>
    </c:plotArea>
    <c:dispBlanksAs val="gap"/>
  </c:chart>
  <c:txPr>
    <a:bodyPr/>
    <a:lstStyle/>
    <a:p>
      <a:pPr>
        <a:defRPr sz="950">
          <a:solidFill>
            <a:srgbClr val="52514E"/>
          </a:solidFill>
          <a:latin typeface="Arial"/>
          <a:ea typeface="Microsoft YaHe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经济持股·口径A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dLbls>
            <c:numFmt formatCode="0.0%" sourceLinked="0"/>
            <c:txPr>
              <a:bodyPr/>
              <a:lstStyle/>
              <a:p>
                <a:pPr>
                  <a:defRPr sz="950">
                    <a:solidFill>
                      <a:srgbClr val="0B0B0B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SpaceX（合并前）</c:v>
                </c:pt>
                <c:pt idx="1">
                  <c:v>特斯拉（合并前）</c:v>
                </c:pt>
                <c:pt idx="2">
                  <c:v>合并后（方法①，零溢价）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0.446906805729435</c:v>
                </c:pt>
                <c:pt idx="1">
                  <c:v>0.284187597962266</c:v>
                </c:pt>
                <c:pt idx="2">
                  <c:v>0.378220483987015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经济持股·口径B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</c:spPr>
          <c:dLbls>
            <c:numFmt formatCode="0.0%" sourceLinked="0"/>
            <c:txPr>
              <a:bodyPr/>
              <a:lstStyle/>
              <a:p>
                <a:pPr>
                  <a:defRPr sz="950">
                    <a:solidFill>
                      <a:srgbClr val="0B0B0B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SpaceX（合并前）</c:v>
                </c:pt>
                <c:pt idx="1">
                  <c:v>特斯拉（合并前）</c:v>
                </c:pt>
                <c:pt idx="2">
                  <c:v>合并后（方法①，零溢价）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0.388246582585666</c:v>
                </c:pt>
                <c:pt idx="1">
                  <c:v>0.198236922175443</c:v>
                </c:pt>
                <c:pt idx="2">
                  <c:v>0.308544906612871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表决权（示意）</c:v>
                </c:pt>
              </c:strCache>
            </c:strRef>
          </c:tx>
          <c:spPr>
            <a:solidFill>
              <a:srgbClr val="1BAF7A"/>
            </a:solidFill>
            <a:ln>
              <a:noFill/>
            </a:ln>
          </c:spPr>
          <c:dLbls>
            <c:numFmt formatCode="0.0%" sourceLinked="0"/>
            <c:txPr>
              <a:bodyPr/>
              <a:lstStyle/>
              <a:p>
                <a:pPr>
                  <a:defRPr sz="950">
                    <a:solidFill>
                      <a:srgbClr val="0B0B0B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SpaceX（合并前）</c:v>
                </c:pt>
                <c:pt idx="1">
                  <c:v>特斯拉（合并前）</c:v>
                </c:pt>
                <c:pt idx="2">
                  <c:v>合并后（方法①，零溢价）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0.860620236735356</c:v>
                </c:pt>
                <c:pt idx="1">
                  <c:v>0.198236922175443</c:v>
                </c:pt>
                <c:pt idx="2">
                  <c:v>0.777050828196506</c:v>
                </c:pt>
              </c:numCache>
            </c:numRef>
          </c:val>
        </c:ser>
        <c:gapWidth val="80"/>
        <c:overlap val="-6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1050">
                <a:solidFill>
                  <a:srgbClr val="0B0B0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 w="7620">
              <a:solidFill>
                <a:srgbClr val="E1E0D9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solidFill>
              <a:srgbClr val="C3C2B7"/>
            </a:solidFill>
          </a:ln>
        </c:spPr>
        <c:crossAx val="-2068027336"/>
        <c:crosses val="autoZero"/>
        <c:majorUnit val="0.2"/>
      </c:valAx>
    </c:plotArea>
    <c:legend>
      <c:legendPos val="t"/>
      <c:overlay val="0"/>
      <c:txPr>
        <a:bodyPr/>
        <a:lstStyle/>
        <a:p>
          <a:pPr>
            <a:defRPr sz="950">
              <a:solidFill>
                <a:srgbClr val="52514E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52514E"/>
          </a:solidFill>
          <a:latin typeface="Arial"/>
          <a:ea typeface="Microsoft YaHe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SpaceX × 特斯拉  合并财务分析  |  投委会内部讨论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01168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Arial"/>
                <a:ea typeface="Microsoft YaHei"/>
                <a:cs typeface="Arial"/>
              </a:rPr>
              <a:t>1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201400" cy="9601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1F3864"/>
                </a:solidFill>
                <a:latin typeface="Arial"/>
                <a:ea typeface="Microsoft YaHei"/>
                <a:cs typeface="Arial"/>
              </a:rPr>
              <a:t>合并后是一家“汽车现金流 + 卫星通信 + AI 算力”的公司：SpaceX 只占 24% 的营收，却贡献约 48% 的毛利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201400" cy="27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272784"/>
            <a:ext cx="96926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来源：SpaceX 招股书、2026 年二季报与三季度业绩公告；特斯拉 2025 年报、2026 年三季报与 Q3 Update；合并模型.xlsx「合并备考」C/D 部分。LTM = 2025Q4–2026Q3；关联 Megapack 销售已从特斯拉能源分部抵销。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研究与展示用，非投资建议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69164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001000" y="1737360"/>
            <a:ext cx="3703320" cy="4343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828800"/>
            <a:ext cx="3383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合并 LTM 营收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075688"/>
            <a:ext cx="33832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1,346 亿美元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615184"/>
            <a:ext cx="33832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特斯拉 1,036｜SpaceX 320｜关联抵销 −10.6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880360"/>
            <a:ext cx="3383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合并毛利率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127248"/>
            <a:ext cx="33832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28.1%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666744"/>
            <a:ext cx="33832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特斯拉 19.3%｜SpaceX 56.7%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931920"/>
            <a:ext cx="3383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合并经营利润（GAAP）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178808"/>
            <a:ext cx="33832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6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25.1 亿美元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4718304"/>
            <a:ext cx="33832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Starlink +64.9｜SI -54.7｜航天 -16.9｜特斯拉 +31.7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4983480"/>
            <a:ext cx="338328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分部毛利率（LTM）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航天 69%  ·  SI 59%  ·  Starlink 52%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能源 30%  ·  汽车及服务 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40680"/>
            <a:ext cx="722376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读法：</a:t>
            </a:r>
            <a:r>
              <a:rPr sz="950" b="0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汽车及服务仍是体量主体（营收 68%），但毛利占比降至 43%；Starlink 与 SI 两块合计贡献 40% 的毛利。SI 与航天仍处投入期，经营层面亏损。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SpaceX × 特斯拉  合并财务分析  |  投委会内部讨论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01168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Arial"/>
                <a:ea typeface="Microsoft YaHei"/>
                <a:cs typeface="Arial"/>
              </a:rPr>
              <a:t>2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201400" cy="9601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1F3864"/>
                </a:solidFill>
                <a:latin typeface="Arial"/>
                <a:ea typeface="Microsoft YaHei"/>
                <a:cs typeface="Arial"/>
              </a:rPr>
              <a:t>增长引擎在 SpaceX：SI 单季营收四个季度从 9.2 亿增至 75.6 亿美元，按 2026Q3 年化 SpaceX 占合并营收升至 34%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201400" cy="27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272784"/>
            <a:ext cx="96926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来源：SpaceX 招股书（2025 年度、2026Q1）、二季报、三季度业绩公告分部表；特斯拉 Q3 Update 季度报表；合并模型.xlsx 各财务表 F 部分。季度营收为两家分部报告值加总（未抵销关联交易）；年化 = 2026Q3 × 4，仅示意。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研究与展示用，非投资建议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691640"/>
          <a:ext cx="722376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596128"/>
            <a:ext cx="71323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季度合计（亿美元）：</a:t>
            </a:r>
            <a:r>
              <a:rPr sz="900" b="0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2025Q4 299（SpaceX 17%）   </a:t>
            </a:r>
            <a:r>
              <a:rPr sz="900" b="0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2026Q1 271（SpaceX 17%）   </a:t>
            </a:r>
            <a:r>
              <a:rPr sz="900" b="0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2026Q2 360（SpaceX 22%）   </a:t>
            </a:r>
            <a:r>
              <a:rPr sz="900" b="0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2026Q3 426（SpaceX 34%）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1737360"/>
            <a:ext cx="3794760" cy="4343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828800"/>
            <a:ext cx="3474720" cy="4206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000" b="0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2026Q3 各分部（亿美元，同比）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SI  </a:t>
            </a:r>
            <a:r>
              <a:rPr sz="20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75.6</a:t>
            </a:r>
            <a:r>
              <a:rPr sz="1100" b="1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  +830%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云服务合同上量、8 月并表 Cursor（6.1 亿）、Grok；铭牌算力 1.7 GW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Starlink  </a:t>
            </a:r>
            <a:r>
              <a:rPr sz="20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52.5</a:t>
            </a:r>
            <a:r>
              <a:rPr sz="1100" b="1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  +69%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消费者用户 1,360 万；分部经营利润率 45%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汽车及服务  </a:t>
            </a:r>
            <a:r>
              <a:rPr sz="20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252</a:t>
            </a:r>
            <a:r>
              <a:rPr sz="1100" b="1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  +2%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交付 48.7 万辆；FSD 活跃订阅 174 万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能源  </a:t>
            </a:r>
            <a:r>
              <a:rPr sz="20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28.8</a:t>
            </a:r>
            <a:r>
              <a:rPr sz="1100" b="1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  −16%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9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含关税退款冲减收入 3.4 亿；储能部署 13.7 GWh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1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航天  </a:t>
            </a:r>
            <a:r>
              <a:rPr sz="20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17.7</a:t>
            </a:r>
            <a:r>
              <a:rPr sz="1100" b="1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  +6%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首次商业 Starship 任务；Q3 发射 35 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SpaceX × 特斯拉  合并财务分析  |  投委会内部讨论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01168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Arial"/>
                <a:ea typeface="Microsoft YaHei"/>
                <a:cs typeface="Arial"/>
              </a:rPr>
              <a:t>3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201400" cy="9601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1F3864"/>
                </a:solidFill>
                <a:latin typeface="Arial"/>
                <a:ea typeface="Microsoft YaHei"/>
                <a:cs typeface="Arial"/>
              </a:rPr>
              <a:t>合并后净现金 869 亿美元，但资本开支是经营现金流的 2.1 倍：LTM 自由现金流 -359 亿美元，主要由 SpaceX 的 AI 算力投入驱动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201400" cy="27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272784"/>
            <a:ext cx="96926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来源：两家现金流量表与资产负债表（2026-09-30）；合并模型.xlsx「合并备考」A、E 部分。有息负债含融资租赁；SpaceX 含对关联方 Valor 的售后回租融资 129 亿美元。内部 Megapack 交易对合并自由现金流无净影响。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研究与展示用，非投资建议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965960"/>
          <a:ext cx="566928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1627632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LTM 经营现金流与资本开支（亿美元）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72200" y="1965960"/>
          <a:ext cx="557784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63640" y="1627632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现金与有息负债（2026-09-30，亿美元）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0"/>
            <a:ext cx="1115568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读法：</a:t>
            </a:r>
            <a:r>
              <a:rPr sz="950" b="0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SpaceX 一家 LTM 资本开支 550 亿美元（其中 SI 分部 2026 年前三季度 400 亿），特斯拉 154 亿且 2026 年指引超 200 亿；按 LTM 缺口，净现金约可覆盖 2.4 年。SpaceX 的 IPO（净募 857 亿）与 250 亿美元票据是现金的主要来源。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SpaceX × 特斯拉  合并财务分析  |  投委会内部讨论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01168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Arial"/>
                <a:ea typeface="Microsoft YaHei"/>
                <a:cs typeface="Arial"/>
              </a:rPr>
              <a:t>4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201400" cy="9601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1F3864"/>
                </a:solidFill>
                <a:latin typeface="Arial"/>
                <a:ea typeface="Microsoft YaHei"/>
                <a:cs typeface="Arial"/>
              </a:rPr>
              <a:t>换股比例取决于价值基础：市价法下特斯拉股东约占 41%–42%，EBITDA 贡献法约 50%，营收贡献法约 76%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201400" cy="27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272784"/>
            <a:ext cx="96926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来源：股价与成交量：Nasdaq.com 历史行情（2026-10-22 访问）；股本：特斯拉 10-Q 封面（2026-10-15）、SpaceX 三季度业绩公告资产负债表（2026-09-30）；合并模型.xlsx「换股比例」「敏感性」。假设 SpaceX 发行 A 类股吸收合并特斯拉，溢价给予特斯拉股东。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研究与展示用，非投资建议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965960"/>
          <a:ext cx="630936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1627632"/>
            <a:ext cx="6217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特斯拉原股东在合并后公司的持股比例（零溢价）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627632"/>
            <a:ext cx="48463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溢价敏感性：特斯拉原股东持股比例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903720" y="2011680"/>
          <a:ext cx="4800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804672"/>
                <a:gridCol w="804672"/>
                <a:gridCol w="804672"/>
                <a:gridCol w="804672"/>
                <a:gridCol w="804672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溢价率</a:t>
                      </a:r>
                    </a:p>
                  </a:txBody>
                  <a:tcPr anchor="ctr" marL="27432" marR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①收盘</a:t>
                      </a:r>
                    </a:p>
                  </a:txBody>
                  <a:tcPr anchor="ctr" marL="27432" marR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②VWAP</a:t>
                      </a:r>
                    </a:p>
                  </a:txBody>
                  <a:tcPr anchor="ctr" marL="27432" marR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③消息后</a:t>
                      </a:r>
                    </a:p>
                  </a:txBody>
                  <a:tcPr anchor="ctr" marL="27432" marR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④营收</a:t>
                      </a:r>
                    </a:p>
                  </a:txBody>
                  <a:tcPr anchor="ctr" marL="27432" marR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⑤EBITDA</a:t>
                      </a:r>
                    </a:p>
                  </a:txBody>
                  <a:tcPr anchor="ctr" marL="27432" marR="27432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0%</a:t>
                      </a:r>
                    </a:p>
                  </a:txBody>
                  <a:tcPr anchor="ctr" marL="27432" marR="27432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42.4%</a:t>
                      </a:r>
                    </a:p>
                  </a:txBody>
                  <a:tcPr anchor="ctr" marL="27432" marR="27432"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41.1%</a:t>
                      </a:r>
                    </a:p>
                  </a:txBody>
                  <a:tcPr anchor="ctr" marL="27432" marR="27432"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41.4%</a:t>
                      </a:r>
                    </a:p>
                  </a:txBody>
                  <a:tcPr anchor="ctr" marL="27432" marR="27432">
                    <a:solidFill>
                      <a:srgbClr val="CDE2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75.5%</a:t>
                      </a:r>
                    </a:p>
                  </a:txBody>
                  <a:tcPr anchor="ctr" marL="27432" marR="2743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49.8%</a:t>
                      </a:r>
                    </a:p>
                  </a:txBody>
                  <a:tcPr anchor="ctr" marL="27432" marR="27432">
                    <a:solidFill>
                      <a:srgbClr val="9EC5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10%</a:t>
                      </a:r>
                    </a:p>
                  </a:txBody>
                  <a:tcPr anchor="ctr" marL="27432" marR="27432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44.8%</a:t>
                      </a:r>
                    </a:p>
                  </a:txBody>
                  <a:tcPr anchor="ctr" marL="27432" marR="27432">
                    <a:solidFill>
                      <a:srgbClr val="B7D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43.4%</a:t>
                      </a:r>
                    </a:p>
                  </a:txBody>
                  <a:tcPr anchor="ctr" marL="27432" marR="27432">
                    <a:solidFill>
                      <a:srgbClr val="B7D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43.8%</a:t>
                      </a:r>
                    </a:p>
                  </a:txBody>
                  <a:tcPr anchor="ctr" marL="27432" marR="27432">
                    <a:solidFill>
                      <a:srgbClr val="B7D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77.3%</a:t>
                      </a:r>
                    </a:p>
                  </a:txBody>
                  <a:tcPr anchor="ctr" marL="27432" marR="2743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52.2%</a:t>
                      </a:r>
                    </a:p>
                  </a:txBody>
                  <a:tcPr anchor="ctr" marL="27432" marR="27432">
                    <a:solidFill>
                      <a:srgbClr val="9EC5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20%</a:t>
                      </a:r>
                    </a:p>
                  </a:txBody>
                  <a:tcPr anchor="ctr" marL="27432" marR="27432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46.9%</a:t>
                      </a:r>
                    </a:p>
                  </a:txBody>
                  <a:tcPr anchor="ctr" marL="27432" marR="27432">
                    <a:solidFill>
                      <a:srgbClr val="B7D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45.6%</a:t>
                      </a:r>
                    </a:p>
                  </a:txBody>
                  <a:tcPr anchor="ctr" marL="27432" marR="27432">
                    <a:solidFill>
                      <a:srgbClr val="B7D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45.9%</a:t>
                      </a:r>
                    </a:p>
                  </a:txBody>
                  <a:tcPr anchor="ctr" marL="27432" marR="27432">
                    <a:solidFill>
                      <a:srgbClr val="B7D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78.7%</a:t>
                      </a:r>
                    </a:p>
                  </a:txBody>
                  <a:tcPr anchor="ctr" marL="27432" marR="2743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54.4%</a:t>
                      </a:r>
                    </a:p>
                  </a:txBody>
                  <a:tcPr anchor="ctr" marL="27432" marR="27432">
                    <a:solidFill>
                      <a:srgbClr val="86B6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30%</a:t>
                      </a:r>
                    </a:p>
                  </a:txBody>
                  <a:tcPr anchor="ctr" marL="27432" marR="27432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48.9%</a:t>
                      </a:r>
                    </a:p>
                  </a:txBody>
                  <a:tcPr anchor="ctr" marL="27432" marR="27432">
                    <a:solidFill>
                      <a:srgbClr val="9EC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47.6%</a:t>
                      </a:r>
                    </a:p>
                  </a:txBody>
                  <a:tcPr anchor="ctr" marL="27432" marR="27432">
                    <a:solidFill>
                      <a:srgbClr val="B7D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47.9%</a:t>
                      </a:r>
                    </a:p>
                  </a:txBody>
                  <a:tcPr anchor="ctr" marL="27432" marR="27432">
                    <a:solidFill>
                      <a:srgbClr val="9EC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80.1%</a:t>
                      </a:r>
                    </a:p>
                  </a:txBody>
                  <a:tcPr anchor="ctr" marL="27432" marR="27432">
                    <a:solidFill>
                      <a:srgbClr val="256A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56.3%</a:t>
                      </a:r>
                    </a:p>
                  </a:txBody>
                  <a:tcPr anchor="ctr" marL="27432" marR="27432">
                    <a:solidFill>
                      <a:srgbClr val="86B6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40%</a:t>
                      </a:r>
                    </a:p>
                  </a:txBody>
                  <a:tcPr anchor="ctr" marL="27432" marR="27432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50.8%</a:t>
                      </a:r>
                    </a:p>
                  </a:txBody>
                  <a:tcPr anchor="ctr" marL="27432" marR="27432">
                    <a:solidFill>
                      <a:srgbClr val="9EC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49.4%</a:t>
                      </a:r>
                    </a:p>
                  </a:txBody>
                  <a:tcPr anchor="ctr" marL="27432" marR="27432">
                    <a:solidFill>
                      <a:srgbClr val="9EC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49.7%</a:t>
                      </a:r>
                    </a:p>
                  </a:txBody>
                  <a:tcPr anchor="ctr" marL="27432" marR="27432">
                    <a:solidFill>
                      <a:srgbClr val="9EC5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81.2%</a:t>
                      </a:r>
                    </a:p>
                  </a:txBody>
                  <a:tcPr anchor="ctr" marL="27432" marR="27432">
                    <a:solidFill>
                      <a:srgbClr val="256A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B0B0B"/>
                          </a:solidFill>
                          <a:latin typeface="Arial"/>
                          <a:ea typeface="Microsoft YaHei"/>
                          <a:cs typeface="Arial"/>
                        </a:rPr>
                        <a:t>58.2%</a:t>
                      </a:r>
                    </a:p>
                  </a:txBody>
                  <a:tcPr anchor="ctr" marL="27432" marR="27432">
                    <a:solidFill>
                      <a:srgbClr val="86B6E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903720" y="4526280"/>
            <a:ext cx="484632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每股价值（美元）：</a:t>
            </a:r>
            <a:r>
              <a:rPr sz="900" b="0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①特斯拉 373.71 / SpaceX 147.79（10-20 收盘）；②367.94 / 153.56（9-09 至 10-20 VWAP）；③386.47 / 159.31（10-21 收盘）。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读法：</a:t>
            </a:r>
            <a:r>
              <a:rPr sz="900" b="0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④⑤把两家 10-20 市场企业价值之和（3.39 万亿美元）按 LTM 营收或 EBITDA（经营利润+折旧摊销）占比重新分配；市价法与贡献法的差距，是谈判中价值基础之争的量级。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SpaceX × 特斯拉  合并财务分析  |  投委会内部讨论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01168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1" i="0">
                <a:solidFill>
                  <a:srgbClr val="1F3864"/>
                </a:solidFill>
                <a:latin typeface="Arial"/>
                <a:ea typeface="Microsoft YaHei"/>
                <a:cs typeface="Arial"/>
              </a:rPr>
              <a:t>5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201400" cy="9601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 i="0">
                <a:solidFill>
                  <a:srgbClr val="1F3864"/>
                </a:solidFill>
                <a:latin typeface="Arial"/>
                <a:ea typeface="Microsoft YaHei"/>
                <a:cs typeface="Arial"/>
              </a:rPr>
              <a:t>马斯克经济持股降至约 31%–38%，若沿用双层股权仍握约 78% 表决权；特斯拉公众股东表决权由约 80% 降至约 10%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11201400" cy="2743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272784"/>
            <a:ext cx="96926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来源：SpaceX 招股书“Security Ownership”（2026-05-01）；特斯拉 2026 委托书“Ownership of Securities”（2026-09-30）；合并模型.xlsx「换股比例」B、E、G 部分。口径A 含全部已发行限制性股（上限）；口径B 剔除未达成条件的业绩股；表决权为沿用 SpaceX 双层股权的示意测算。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7373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898781"/>
                </a:solidFill>
                <a:latin typeface="Arial"/>
                <a:ea typeface="Microsoft YaHei"/>
                <a:cs typeface="Arial"/>
              </a:rPr>
              <a:t>研究与展示用，非投资建议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965960"/>
          <a:ext cx="640080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1627632"/>
            <a:ext cx="6400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马斯克持股比例：合并前后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1691640"/>
            <a:ext cx="4617720" cy="44348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783080"/>
            <a:ext cx="4297680" cy="4297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100" b="1" i="0">
                <a:solidFill>
                  <a:srgbClr val="1F3864"/>
                </a:solidFill>
                <a:latin typeface="Arial"/>
                <a:ea typeface="Microsoft YaHei"/>
                <a:cs typeface="Arial"/>
              </a:rPr>
              <a:t>关键风险与待核实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程序公正　</a:t>
            </a:r>
            <a:r>
              <a:rPr sz="950" b="0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马斯克两头在场；特斯拉董事 Ehrenpreis 兼任 SpaceX 董事——特别委员会独立性、是否设多数少数股东批准、德州法关联股东条款（其特斯拉实益持股 19.8%）需核实。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估值分歧　</a:t>
            </a:r>
            <a:r>
              <a:rPr sz="950" b="0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方法间换股比例 2.40–10.59；SpaceX 上市不足半年、10-22 盘中约 −9%（锁定股解禁日）。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激励重设　</a:t>
            </a:r>
            <a:r>
              <a:rPr sz="950" b="0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特斯拉 2025 CEO 奖励（4.24 亿股）与 SpaceX 两项 CEO 奖励（13.02 亿股 B 类）均挂钩各自市值里程碑，合并后须重新定义。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会计与资本　</a:t>
            </a:r>
            <a:r>
              <a:rPr sz="950" b="0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购买法下超额对价约 1.39 万亿美元，摊销或使 GAAP 利润为负；合并资本开支远超经营现金流。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000" b="1" i="0">
                <a:solidFill>
                  <a:srgbClr val="0B0B0B"/>
                </a:solidFill>
                <a:latin typeface="Arial"/>
                <a:ea typeface="Microsoft YaHei"/>
                <a:cs typeface="Arial"/>
              </a:rPr>
              <a:t>监管　</a:t>
            </a:r>
            <a:r>
              <a:rPr sz="950" b="0" i="0">
                <a:solidFill>
                  <a:srgbClr val="52514E"/>
                </a:solidFill>
                <a:latin typeface="Arial"/>
                <a:ea typeface="Microsoft YaHei"/>
                <a:cs typeface="Arial"/>
              </a:rPr>
              <a:t>SpaceX 国家安全业务与特斯拉中国业务并存；FCC 频谱、出口管制与反垄断审查。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投委会汇报：SpaceX × 特斯拉合并财务分析</dc:title>
  <dc:subject/>
  <dc:creator>并购分析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