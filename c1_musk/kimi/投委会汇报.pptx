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A6A6"/>
          </a:solidFill>
          <a:ln w="762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7315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6B7C93"/>
                </a:solidFill>
                <a:latin typeface="Arial"/>
              </a:rPr>
              <a:t>SPACEX + TESLA  /  MERGER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164592"/>
            <a:ext cx="10972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6B7C93"/>
                </a:solidFill>
                <a:latin typeface="Arial"/>
              </a:rPr>
              <a:t>01  / 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84632"/>
            <a:ext cx="1129284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02A43"/>
                </a:solidFill>
                <a:latin typeface="Arial"/>
              </a:rPr>
              <a:t>合并后是五大业务平台，但汽车仍占约67%收入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" y="1051560"/>
            <a:ext cx="110642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C93"/>
                </a:solidFill>
                <a:latin typeface="Arial"/>
              </a:rPr>
              <a:t>LTM 2025Q4–2026Q3｜未抵销汇总｜金额：US$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419088"/>
            <a:ext cx="11356848" cy="7315"/>
          </a:xfrm>
          <a:prstGeom prst="rect">
            <a:avLst/>
          </a:prstGeom>
          <a:solidFill>
            <a:srgbClr val="D9E2EC"/>
          </a:solidFill>
          <a:ln w="762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evenue_m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389888"/>
            <a:ext cx="6903720" cy="320990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635240" y="1417320"/>
            <a:ext cx="4096512" cy="10515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762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35240" y="1417320"/>
            <a:ext cx="54864" cy="1051560"/>
          </a:xfrm>
          <a:prstGeom prst="rect">
            <a:avLst/>
          </a:prstGeom>
          <a:solidFill>
            <a:srgbClr val="102A43"/>
          </a:solidFill>
          <a:ln w="7620"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81544" y="1527048"/>
            <a:ext cx="3867912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C93"/>
                </a:solidFill>
                <a:latin typeface="Arial"/>
              </a:rPr>
              <a:t>LTM营收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81544" y="1810512"/>
            <a:ext cx="3867912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02A43"/>
                </a:solidFill>
                <a:latin typeface="Arial"/>
              </a:rPr>
              <a:t>US$135.6bn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81544" y="2249424"/>
            <a:ext cx="386791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B7C93"/>
                </a:solidFill>
                <a:latin typeface="Arial"/>
              </a:rPr>
              <a:t>Tesla 76.4% / SpaceX 23.6%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2615184"/>
            <a:ext cx="4096512" cy="10515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762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35240" y="2615184"/>
            <a:ext cx="54864" cy="1051560"/>
          </a:xfrm>
          <a:prstGeom prst="rect">
            <a:avLst/>
          </a:prstGeom>
          <a:solidFill>
            <a:srgbClr val="00A6A6"/>
          </a:solidFill>
          <a:ln w="762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81544" y="2724912"/>
            <a:ext cx="3867912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C93"/>
                </a:solidFill>
                <a:latin typeface="Arial"/>
              </a:rPr>
              <a:t>LTM毛利 / 毛利率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81544" y="3008376"/>
            <a:ext cx="3867912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02A43"/>
                </a:solidFill>
                <a:latin typeface="Arial"/>
              </a:rPr>
              <a:t>US$38.2bn  /  28.1%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3813048"/>
            <a:ext cx="1965960" cy="10515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762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35240" y="3813048"/>
            <a:ext cx="54864" cy="1051560"/>
          </a:xfrm>
          <a:prstGeom prst="rect">
            <a:avLst/>
          </a:prstGeom>
          <a:solidFill>
            <a:srgbClr val="2F80ED"/>
          </a:solidFill>
          <a:ln w="762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81544" y="3922776"/>
            <a:ext cx="173736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C93"/>
                </a:solidFill>
                <a:latin typeface="Arial"/>
              </a:rPr>
              <a:t>现金＋短期投资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81544" y="4206240"/>
            <a:ext cx="1737360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02A43"/>
                </a:solidFill>
                <a:latin typeface="Arial"/>
              </a:rPr>
              <a:t>US$135.3bn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65792" y="3813048"/>
            <a:ext cx="1965960" cy="10515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762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765792" y="3813048"/>
            <a:ext cx="54864" cy="1051560"/>
          </a:xfrm>
          <a:prstGeom prst="rect">
            <a:avLst/>
          </a:prstGeom>
          <a:solidFill>
            <a:srgbClr val="F2994A"/>
          </a:solidFill>
          <a:ln w="7620"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12096" y="3922776"/>
            <a:ext cx="173736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C93"/>
                </a:solidFill>
                <a:latin typeface="Arial"/>
              </a:rPr>
              <a:t>净现金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12096" y="4206240"/>
            <a:ext cx="1737360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02A43"/>
                </a:solidFill>
                <a:latin typeface="Arial"/>
              </a:rPr>
              <a:t>US$86.9bn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193792"/>
            <a:ext cx="11109960" cy="658368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 w="7620">
            <a:solidFill>
              <a:srgbClr val="E8F1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5358384"/>
            <a:ext cx="106984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02A43"/>
                </a:solidFill>
                <a:latin typeface="Arial"/>
              </a:rPr>
              <a:t>核心判断：收入规模由汽车压舱，业务组合的增量利润来自连接与 SI；合并后的资本配置规则必须先于协同叙事。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6492240"/>
            <a:ext cx="112928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>
                <a:solidFill>
                  <a:srgbClr val="6B7C93"/>
                </a:solidFill>
                <a:latin typeface="Arial"/>
              </a:rPr>
              <a:t>来源：SpaceX Q3公告p.3–6；Tesla Q3 Update slides 27–32；模型“合并备考”。毛利为收入减成本的可比分析计算。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A6A6"/>
          </a:solidFill>
          <a:ln w="762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7315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6B7C93"/>
                </a:solidFill>
                <a:latin typeface="Arial"/>
              </a:rPr>
              <a:t>SPACEX + TESLA  /  MERGER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164592"/>
            <a:ext cx="10972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6B7C93"/>
                </a:solidFill>
                <a:latin typeface="Arial"/>
              </a:rPr>
              <a:t>02  / 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84632"/>
            <a:ext cx="1129284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02A43"/>
                </a:solidFill>
                <a:latin typeface="Arial"/>
              </a:rPr>
              <a:t>经营利润为正并不等于自由现金流为正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" y="1051560"/>
            <a:ext cx="110642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C93"/>
                </a:solidFill>
                <a:latin typeface="Arial"/>
              </a:rPr>
              <a:t>SpaceX的高资本开支抵消Tesla的正自由现金流；合并后现金充足，但投资回收期是核心问题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419088"/>
            <a:ext cx="11356848" cy="7315"/>
          </a:xfrm>
          <a:prstGeom prst="rect">
            <a:avLst/>
          </a:prstGeom>
          <a:solidFill>
            <a:srgbClr val="D9E2EC"/>
          </a:solidFill>
          <a:ln w="762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ash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53312"/>
            <a:ext cx="7040880" cy="338925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635240" y="1389888"/>
            <a:ext cx="4096512" cy="10241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762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35240" y="1389888"/>
            <a:ext cx="54864" cy="1024128"/>
          </a:xfrm>
          <a:prstGeom prst="rect">
            <a:avLst/>
          </a:prstGeom>
          <a:solidFill>
            <a:srgbClr val="D64545"/>
          </a:solidFill>
          <a:ln w="762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81544" y="1499616"/>
            <a:ext cx="3867912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C93"/>
                </a:solidFill>
                <a:latin typeface="Arial"/>
              </a:rPr>
              <a:t>SpaceX｜经营利润 / FCF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81544" y="1783080"/>
            <a:ext cx="3867912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02A43"/>
                </a:solidFill>
                <a:latin typeface="Arial"/>
              </a:rPr>
              <a:t>−US$0.7bn  /  −US$39.2bn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560320"/>
            <a:ext cx="4096512" cy="10241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762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35240" y="2560320"/>
            <a:ext cx="54864" cy="1024128"/>
          </a:xfrm>
          <a:prstGeom prst="rect">
            <a:avLst/>
          </a:prstGeom>
          <a:solidFill>
            <a:srgbClr val="00A6A6"/>
          </a:solidFill>
          <a:ln w="762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81544" y="2670048"/>
            <a:ext cx="3867912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C93"/>
                </a:solidFill>
                <a:latin typeface="Arial"/>
              </a:rPr>
              <a:t>Tesla｜经营利润 / FCF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81544" y="2953512"/>
            <a:ext cx="3867912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02A43"/>
                </a:solidFill>
                <a:latin typeface="Arial"/>
              </a:rPr>
              <a:t>+US$3.5bn  /  +US$3.3bn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35240" y="3730752"/>
            <a:ext cx="4096512" cy="10241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762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35240" y="3730752"/>
            <a:ext cx="54864" cy="1024128"/>
          </a:xfrm>
          <a:prstGeom prst="rect">
            <a:avLst/>
          </a:prstGeom>
          <a:solidFill>
            <a:srgbClr val="F2994A"/>
          </a:solidFill>
          <a:ln w="7620"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81544" y="3840480"/>
            <a:ext cx="3867912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C93"/>
                </a:solidFill>
                <a:latin typeface="Arial"/>
              </a:rPr>
              <a:t>合并｜经营利润 / FCF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81544" y="4123944"/>
            <a:ext cx="3867912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02A43"/>
                </a:solidFill>
                <a:latin typeface="Arial"/>
              </a:rPr>
              <a:t>+US$2.8bn  /  −US$35.9bn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257800"/>
            <a:ext cx="3246120" cy="65836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762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5367528"/>
            <a:ext cx="3017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C93"/>
                </a:solidFill>
                <a:latin typeface="Arial"/>
              </a:rPr>
              <a:t>SpaceX Capex / Revenue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5577840"/>
            <a:ext cx="30175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D64545"/>
                </a:solidFill>
                <a:latin typeface="Arial"/>
              </a:rPr>
              <a:t>171.5%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43400" y="5257800"/>
            <a:ext cx="3246120" cy="65836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762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53128" y="5367528"/>
            <a:ext cx="3017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C93"/>
                </a:solidFill>
                <a:latin typeface="Arial"/>
              </a:rPr>
              <a:t>Tesla Capex / Revenue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53128" y="5577840"/>
            <a:ext cx="30175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A6A6"/>
                </a:solidFill>
                <a:latin typeface="Arial"/>
              </a:rPr>
              <a:t>14.9%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60" y="5257800"/>
            <a:ext cx="3246120" cy="65836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762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47888" y="5367528"/>
            <a:ext cx="3017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C93"/>
                </a:solidFill>
                <a:latin typeface="Arial"/>
              </a:rPr>
              <a:t>Combined Capex / Revenue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5577840"/>
            <a:ext cx="30175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2994A"/>
                </a:solidFill>
                <a:latin typeface="Arial"/>
              </a:rPr>
              <a:t>51.9%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492240"/>
            <a:ext cx="112928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>
                <a:solidFill>
                  <a:srgbClr val="6B7C93"/>
                </a:solidFill>
                <a:latin typeface="Arial"/>
              </a:rPr>
              <a:t>来源：两家各自财务页；FCF=CFO−Capex；Capex以正数现金流出列示。合并为未抵销汇总，不含协同或融资假设。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A6A6"/>
          </a:solidFill>
          <a:ln w="762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7315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6B7C93"/>
                </a:solidFill>
                <a:latin typeface="Arial"/>
              </a:rPr>
              <a:t>SPACEX + TESLA  /  MERGER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164592"/>
            <a:ext cx="10972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6B7C93"/>
                </a:solidFill>
                <a:latin typeface="Arial"/>
              </a:rPr>
              <a:t>03  / 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84632"/>
            <a:ext cx="1129284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02A43"/>
                </a:solidFill>
                <a:latin typeface="Arial"/>
              </a:rPr>
              <a:t>连接与 SI 贡献约40%毛利，但 SpaceX 经营利润仍受投资拖累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" y="1051560"/>
            <a:ext cx="110642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C93"/>
                </a:solidFill>
                <a:latin typeface="Arial"/>
              </a:rPr>
              <a:t>可比毛利揭示业务质量差异；两家公司分部利润指标并不相同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419088"/>
            <a:ext cx="11356848" cy="7315"/>
          </a:xfrm>
          <a:prstGeom prst="rect">
            <a:avLst/>
          </a:prstGeom>
          <a:solidFill>
            <a:srgbClr val="D9E2EC"/>
          </a:solidFill>
          <a:ln w="762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gross_m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6995160" cy="325242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635240" y="1389888"/>
            <a:ext cx="4096512" cy="3621024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762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45552" y="1554480"/>
            <a:ext cx="36118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2A43"/>
                </a:solidFill>
                <a:latin typeface="Arial"/>
              </a:rPr>
              <a:t>SpaceX分部经营利润（LTM）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45552" y="2011680"/>
            <a:ext cx="45720" cy="594360"/>
          </a:xfrm>
          <a:prstGeom prst="rect">
            <a:avLst/>
          </a:prstGeom>
          <a:solidFill>
            <a:srgbClr val="00A6A6"/>
          </a:solidFill>
          <a:ln w="762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2020824"/>
            <a:ext cx="333756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B7C93"/>
                </a:solidFill>
                <a:latin typeface="Arial"/>
              </a:rPr>
              <a:t>Connectivity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49424"/>
            <a:ext cx="33375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0A6A6"/>
                </a:solidFill>
                <a:latin typeface="Arial"/>
              </a:rPr>
              <a:t>+US$6.5bn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28431" y="2532888"/>
            <a:ext cx="3337560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B7C93"/>
                </a:solidFill>
                <a:latin typeface="Arial"/>
              </a:rPr>
              <a:t>收入占比11.8%｜毛利占比21.7%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45552" y="2843784"/>
            <a:ext cx="45720" cy="594360"/>
          </a:xfrm>
          <a:prstGeom prst="rect">
            <a:avLst/>
          </a:prstGeom>
          <a:solidFill>
            <a:srgbClr val="8064A2"/>
          </a:solidFill>
          <a:ln w="7620">
            <a:solidFill>
              <a:srgbClr val="806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28431" y="2852928"/>
            <a:ext cx="333756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B7C93"/>
                </a:solidFill>
                <a:latin typeface="Arial"/>
              </a:rPr>
              <a:t>SI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28431" y="3081528"/>
            <a:ext cx="33375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8064A2"/>
                </a:solidFill>
                <a:latin typeface="Arial"/>
              </a:rPr>
              <a:t>−US$5.5bn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28431" y="3364992"/>
            <a:ext cx="3337560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B7C93"/>
                </a:solidFill>
                <a:latin typeface="Arial"/>
              </a:rPr>
              <a:t>收入占比8.7%｜毛利占比18.4%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45552" y="3675888"/>
            <a:ext cx="45720" cy="594360"/>
          </a:xfrm>
          <a:prstGeom prst="rect">
            <a:avLst/>
          </a:prstGeom>
          <a:solidFill>
            <a:srgbClr val="56CCF2"/>
          </a:solidFill>
          <a:ln w="7620">
            <a:solidFill>
              <a:srgbClr val="56C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28431" y="3685032"/>
            <a:ext cx="333756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B7C93"/>
                </a:solidFill>
                <a:latin typeface="Arial"/>
              </a:rPr>
              <a:t>Space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28431" y="3913632"/>
            <a:ext cx="33375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56CCF2"/>
                </a:solidFill>
                <a:latin typeface="Arial"/>
              </a:rPr>
              <a:t>−US$1.7bn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28431" y="4197096"/>
            <a:ext cx="3337560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B7C93"/>
                </a:solidFill>
                <a:latin typeface="Arial"/>
              </a:rPr>
              <a:t>收入占比3.1%｜毛利占比7.5%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266944"/>
            <a:ext cx="11109960" cy="612648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 w="7620">
            <a:solidFill>
              <a:srgbClr val="E8F1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5404104"/>
            <a:ext cx="106984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2A43"/>
                </a:solidFill>
                <a:latin typeface="Arial"/>
              </a:rPr>
              <a:t>口径警示：Tesla汽车（含Services and other）与能源分部只披露毛利；SpaceX CODM使用经营利润。上图用统一“收入−成本”做可比毛利，不把两种利润指标混加。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92240"/>
            <a:ext cx="112928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>
                <a:solidFill>
                  <a:srgbClr val="6B7C93"/>
                </a:solidFill>
                <a:latin typeface="Arial"/>
              </a:rPr>
              <a:t>来源：SpaceX招股书Note 19、Q2 Note 18、Q3公告p.3–6；Tesla 10-K Note 16、10-Q Note 14。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A6A6"/>
          </a:solidFill>
          <a:ln w="762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7315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6B7C93"/>
                </a:solidFill>
                <a:latin typeface="Arial"/>
              </a:rPr>
              <a:t>SPACEX + TESLA  /  MERGER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164592"/>
            <a:ext cx="10972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6B7C93"/>
                </a:solidFill>
                <a:latin typeface="Arial"/>
              </a:rPr>
              <a:t>04  / 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84632"/>
            <a:ext cx="1129284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02A43"/>
                </a:solidFill>
                <a:latin typeface="Arial"/>
              </a:rPr>
              <a:t>换股比例对方法敏感：2.36x–3.43x，溢价还会放大差异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" y="1051560"/>
            <a:ext cx="110642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C93"/>
                </a:solidFill>
                <a:latin typeface="Arial"/>
              </a:rPr>
              <a:t>0%溢价；每1股Tesla换取SpaceX股数｜结构假设：SpaceX发行Class A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419088"/>
            <a:ext cx="11356848" cy="7315"/>
          </a:xfrm>
          <a:prstGeom prst="rect">
            <a:avLst/>
          </a:prstGeom>
          <a:solidFill>
            <a:srgbClr val="D9E2EC"/>
          </a:solidFill>
          <a:ln w="762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exch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325880"/>
            <a:ext cx="6903720" cy="3428435"/>
          </a:xfrm>
          <a:prstGeom prst="rect">
            <a:avLst/>
          </a:prstGeom>
        </p:spPr>
      </p:pic>
      <p:pic>
        <p:nvPicPr>
          <p:cNvPr id="9" name="Picture 8" descr="ownersh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325880"/>
            <a:ext cx="4370832" cy="2111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75488" y="4800600"/>
            <a:ext cx="630936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2A43"/>
                </a:solidFill>
                <a:latin typeface="Arial"/>
              </a:rPr>
              <a:t>溢价敏感性（换股比例）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5102352"/>
            <a:ext cx="1143000" cy="310896"/>
          </a:xfrm>
          <a:prstGeom prst="rect">
            <a:avLst/>
          </a:prstGeom>
          <a:solidFill>
            <a:srgbClr val="102A43"/>
          </a:solidFill>
          <a:ln w="7620"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" y="5161788"/>
            <a:ext cx="1069848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溢价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18488" y="5102352"/>
            <a:ext cx="1371600" cy="310896"/>
          </a:xfrm>
          <a:prstGeom prst="rect">
            <a:avLst/>
          </a:prstGeom>
          <a:solidFill>
            <a:srgbClr val="102A43"/>
          </a:solidFill>
          <a:ln w="7620"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55064" y="5161788"/>
            <a:ext cx="1298448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收盘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90088" y="5102352"/>
            <a:ext cx="1371600" cy="310896"/>
          </a:xfrm>
          <a:prstGeom prst="rect">
            <a:avLst/>
          </a:prstGeom>
          <a:solidFill>
            <a:srgbClr val="102A43"/>
          </a:solidFill>
          <a:ln w="7620"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26664" y="5161788"/>
            <a:ext cx="1298448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20日VWAP*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61688" y="5102352"/>
            <a:ext cx="1371600" cy="310896"/>
          </a:xfrm>
          <a:prstGeom prst="rect">
            <a:avLst/>
          </a:prstGeom>
          <a:solidFill>
            <a:srgbClr val="102A43"/>
          </a:solidFill>
          <a:ln w="7620"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98264" y="5161788"/>
            <a:ext cx="1298448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收入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33288" y="5102352"/>
            <a:ext cx="1371600" cy="310896"/>
          </a:xfrm>
          <a:prstGeom prst="rect">
            <a:avLst/>
          </a:prstGeom>
          <a:solidFill>
            <a:srgbClr val="102A43"/>
          </a:solidFill>
          <a:ln w="7620"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9864" y="5161788"/>
            <a:ext cx="1298448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EBITDA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5488" y="5413248"/>
            <a:ext cx="114300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064" y="5472684"/>
            <a:ext cx="1069848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102A43"/>
                </a:solidFill>
                <a:latin typeface="Arial"/>
              </a:rPr>
              <a:t>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18488" y="5413248"/>
            <a:ext cx="137160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55064" y="5472684"/>
            <a:ext cx="1298448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102A43"/>
                </a:solidFill>
                <a:latin typeface="Arial"/>
              </a:rPr>
              <a:t>2.43x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90088" y="5413248"/>
            <a:ext cx="137160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26664" y="5472684"/>
            <a:ext cx="1298448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102A43"/>
                </a:solidFill>
                <a:latin typeface="Arial"/>
              </a:rPr>
              <a:t>2.36x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61688" y="5413248"/>
            <a:ext cx="137160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98264" y="5472684"/>
            <a:ext cx="1298448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102A43"/>
                </a:solidFill>
                <a:latin typeface="Arial"/>
              </a:rPr>
              <a:t>3.43x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33288" y="5413248"/>
            <a:ext cx="137160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69864" y="5472684"/>
            <a:ext cx="1298448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102A43"/>
                </a:solidFill>
                <a:latin typeface="Arial"/>
              </a:rPr>
              <a:t>3.30x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5488" y="5724144"/>
            <a:ext cx="1143000" cy="310896"/>
          </a:xfrm>
          <a:prstGeom prst="rect">
            <a:avLst/>
          </a:prstGeom>
          <a:solidFill>
            <a:srgbClr val="F5F8FC"/>
          </a:solidFill>
          <a:ln w="762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2064" y="5783580"/>
            <a:ext cx="1069848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102A43"/>
                </a:solidFill>
                <a:latin typeface="Arial"/>
              </a:rPr>
              <a:t>20%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618488" y="5724144"/>
            <a:ext cx="1371600" cy="310896"/>
          </a:xfrm>
          <a:prstGeom prst="rect">
            <a:avLst/>
          </a:prstGeom>
          <a:solidFill>
            <a:srgbClr val="F5F8FC"/>
          </a:solidFill>
          <a:ln w="762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655064" y="5783580"/>
            <a:ext cx="1298448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102A43"/>
                </a:solidFill>
                <a:latin typeface="Arial"/>
              </a:rPr>
              <a:t>2.91x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990088" y="5724144"/>
            <a:ext cx="1371600" cy="310896"/>
          </a:xfrm>
          <a:prstGeom prst="rect">
            <a:avLst/>
          </a:prstGeom>
          <a:solidFill>
            <a:srgbClr val="F5F8FC"/>
          </a:solidFill>
          <a:ln w="762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26664" y="5783580"/>
            <a:ext cx="1298448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102A43"/>
                </a:solidFill>
                <a:latin typeface="Arial"/>
              </a:rPr>
              <a:t>2.84x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61688" y="5724144"/>
            <a:ext cx="1371600" cy="310896"/>
          </a:xfrm>
          <a:prstGeom prst="rect">
            <a:avLst/>
          </a:prstGeom>
          <a:solidFill>
            <a:srgbClr val="F5F8FC"/>
          </a:solidFill>
          <a:ln w="762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98264" y="5783580"/>
            <a:ext cx="1298448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102A43"/>
                </a:solidFill>
                <a:latin typeface="Arial"/>
              </a:rPr>
              <a:t>4.12x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733288" y="5724144"/>
            <a:ext cx="1371600" cy="310896"/>
          </a:xfrm>
          <a:prstGeom prst="rect">
            <a:avLst/>
          </a:prstGeom>
          <a:solidFill>
            <a:srgbClr val="F5F8FC"/>
          </a:solidFill>
          <a:ln w="762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769864" y="5783580"/>
            <a:ext cx="1298448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102A43"/>
                </a:solidFill>
                <a:latin typeface="Arial"/>
              </a:rPr>
              <a:t>3.96x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452360" y="4846320"/>
            <a:ext cx="4279392" cy="1069848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 w="7620">
            <a:solidFill>
              <a:srgbClr val="E8F1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62672" y="4992624"/>
            <a:ext cx="3840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02A43"/>
                </a:solidFill>
                <a:latin typeface="Arial"/>
              </a:rPr>
              <a:t>收盘市值法：2.43x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62672" y="5285232"/>
            <a:ext cx="38404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02A43"/>
                </a:solidFill>
                <a:latin typeface="Arial"/>
              </a:rPr>
              <a:t>Tesla原股东41.4%｜Musk合并后33.5%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02A43"/>
                </a:solidFill>
                <a:latin typeface="Arial"/>
              </a:rPr>
              <a:t>Musk经济权益 ≠ 合并后投票权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" y="6492240"/>
            <a:ext cx="112928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>
                <a:solidFill>
                  <a:srgbClr val="6B7C93"/>
                </a:solidFill>
                <a:latin typeface="Arial"/>
              </a:rPr>
              <a:t>来源：Yahoo Finance Chart API（2026-10-22访问，定价日2026-10-21）；SpaceX招股书；Tesla Proxy。倍数和溢价为假设；VWAP*为分析计算。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A6A6"/>
          </a:solidFill>
          <a:ln w="762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7315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6B7C93"/>
                </a:solidFill>
                <a:latin typeface="Arial"/>
              </a:rPr>
              <a:t>SPACEX + TESLA  /  MERGER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164592"/>
            <a:ext cx="10972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6B7C93"/>
                </a:solidFill>
                <a:latin typeface="Arial"/>
              </a:rPr>
              <a:t>05  / 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84632"/>
            <a:ext cx="1129284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02A43"/>
                </a:solidFill>
                <a:latin typeface="Arial"/>
              </a:rPr>
              <a:t>交易可继续研究，但交割前必须解决四个会计与治理问题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" y="1051560"/>
            <a:ext cx="110642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C93"/>
                </a:solidFill>
                <a:latin typeface="Arial"/>
              </a:rPr>
              <a:t>材料未披露正式合并协议、会计收购方、最终对价或购买价格分配；以下为尽调闸门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419088"/>
            <a:ext cx="11356848" cy="7315"/>
          </a:xfrm>
          <a:prstGeom prst="rect">
            <a:avLst/>
          </a:prstGeom>
          <a:solidFill>
            <a:srgbClr val="D9E2EC"/>
          </a:solidFill>
          <a:ln w="762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5321808" cy="14813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762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64008" cy="1481328"/>
          </a:xfrm>
          <a:prstGeom prst="rect">
            <a:avLst/>
          </a:prstGeom>
          <a:solidFill>
            <a:srgbClr val="00A6A6"/>
          </a:solidFill>
          <a:ln w="762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1563624"/>
            <a:ext cx="43891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A6A6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2728" y="1581912"/>
            <a:ext cx="4297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02A43"/>
                </a:solidFill>
                <a:latin typeface="Arial"/>
              </a:rPr>
              <a:t>内部交易抵销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52728" y="1929384"/>
            <a:ext cx="4297680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02A43"/>
                </a:solidFill>
                <a:latin typeface="Arial"/>
              </a:rPr>
              <a:t>Q3 Tesla对SpaceX Megapack收入221、成本171；应收729、递延收入648。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52728" y="2423160"/>
            <a:ext cx="42976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C93"/>
                </a:solidFill>
                <a:latin typeface="Arial"/>
              </a:rPr>
              <a:t>取得全量台账，核对PP&amp;E、未实现利润和折旧。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53912" y="1417320"/>
            <a:ext cx="5321808" cy="14813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762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53912" y="1417320"/>
            <a:ext cx="64008" cy="1481328"/>
          </a:xfrm>
          <a:prstGeom prst="rect">
            <a:avLst/>
          </a:prstGeom>
          <a:solidFill>
            <a:srgbClr val="8064A2"/>
          </a:solidFill>
          <a:ln w="7620">
            <a:solidFill>
              <a:srgbClr val="806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79" y="1563624"/>
            <a:ext cx="43891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8064A2"/>
                </a:solidFill>
                <a:latin typeface="Arial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1581912"/>
            <a:ext cx="4297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02A43"/>
                </a:solidFill>
                <a:latin typeface="Arial"/>
              </a:rPr>
              <a:t>交叉持股与购买法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1929384"/>
            <a:ext cx="4297680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02A43"/>
                </a:solidFill>
                <a:latin typeface="Arial"/>
              </a:rPr>
              <a:t>Tesla持有SpaceX投资公允价值2,865；9M公允价值净收益863。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2423160"/>
            <a:ext cx="42976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C93"/>
                </a:solidFill>
                <a:latin typeface="Arial"/>
              </a:rPr>
              <a:t>确定收购方、原持有权益、商誉与抵销分录，避免重复计算。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172968"/>
            <a:ext cx="5321808" cy="14813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762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3172968"/>
            <a:ext cx="64008" cy="1481328"/>
          </a:xfrm>
          <a:prstGeom prst="rect">
            <a:avLst/>
          </a:prstGeom>
          <a:solidFill>
            <a:srgbClr val="F2994A"/>
          </a:solidFill>
          <a:ln w="7620"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" y="3319272"/>
            <a:ext cx="43891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2994A"/>
                </a:solidFill>
                <a:latin typeface="Arial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52728" y="3337560"/>
            <a:ext cx="4297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02A43"/>
                </a:solidFill>
                <a:latin typeface="Arial"/>
              </a:rPr>
              <a:t>债务与资金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52728" y="3685031"/>
            <a:ext cx="4297680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02A43"/>
                </a:solidFill>
                <a:latin typeface="Arial"/>
              </a:rPr>
              <a:t>SpaceX LTM FCF −39.2bn；Q3债务及租赁38,844。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52728" y="4178808"/>
            <a:ext cx="42976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C93"/>
                </a:solidFill>
                <a:latin typeface="Arial"/>
              </a:rPr>
              <a:t>核实change-of-control、租赁/本金、频谱和芯片项目资金承诺。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53912" y="3172968"/>
            <a:ext cx="5321808" cy="148132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762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53912" y="3172968"/>
            <a:ext cx="64008" cy="1481328"/>
          </a:xfrm>
          <a:prstGeom prst="rect">
            <a:avLst/>
          </a:prstGeom>
          <a:solidFill>
            <a:srgbClr val="D64545"/>
          </a:solidFill>
          <a:ln w="762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79" y="3319272"/>
            <a:ext cx="43891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64545"/>
                </a:solidFill>
                <a:latin typeface="Arial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3337560"/>
            <a:ext cx="4297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02A43"/>
                </a:solidFill>
                <a:latin typeface="Arial"/>
              </a:rPr>
              <a:t>投票权与稀释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03720" y="3685031"/>
            <a:ext cx="4297680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02A43"/>
                </a:solidFill>
                <a:latin typeface="Arial"/>
              </a:rPr>
              <a:t>SpaceX Class B每股10票；Tesla CEO奖励股有特殊投票代理。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03720" y="4178808"/>
            <a:ext cx="42976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C93"/>
                </a:solidFill>
                <a:latin typeface="Arial"/>
              </a:rPr>
              <a:t>确认交割后股数、奖励股、Class B权利、股东与监管批准。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5166360"/>
            <a:ext cx="11109960" cy="685800"/>
          </a:xfrm>
          <a:prstGeom prst="roundRect">
            <a:avLst>
              <a:gd name="adj" fmla="val 8000"/>
            </a:avLst>
          </a:prstGeom>
          <a:solidFill>
            <a:srgbClr val="102A43"/>
          </a:solidFill>
          <a:ln w="7620"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5340096"/>
            <a:ext cx="106527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下一步：先取得正式结构、全量内部交易和融资/治理文件，再更新合并会计与对价；当前情景不构成最终交易建议。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" y="6492240"/>
            <a:ext cx="112928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>
                <a:solidFill>
                  <a:srgbClr val="6B7C93"/>
                </a:solidFill>
                <a:latin typeface="Arial"/>
              </a:rPr>
              <a:t>来源：Tesla 10-Q Note 1/2/8/13及Part II Item 5；SpaceX招股书及Q3公告；完整问题清单见投委会备忘录第5页。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