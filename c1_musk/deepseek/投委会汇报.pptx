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B7C"/>
                </a:solidFill>
                <a:latin typeface="Microsoft YaHei"/>
                <a:ea typeface="Microsoft YaHei"/>
              </a:rPr>
              <a:t>投委会汇报 ｜ SpaceX × Tesla 合并财务分析 ｜ 2026 年 10 月 22 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37744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B6B7C"/>
                </a:solidFill>
                <a:latin typeface="Microsoft YaHei"/>
                <a:ea typeface="Microsoft YaHei"/>
              </a:rPr>
              <a:t>01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0B2545"/>
                </a:solidFill>
                <a:latin typeface="Microsoft YaHei"/>
                <a:ea typeface="Microsoft YaHei"/>
              </a:rPr>
              <a:t>SpaceX × Tesla：一家用汽车现金流
养算力与太空基础设施的公司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0E7C7B"/>
                </a:solidFill>
                <a:latin typeface="Microsoft YaHei"/>
                <a:ea typeface="Microsoft YaHei"/>
              </a:rPr>
              <a:t>备考 LTM（2025Q4–2026Q3）｜ 美元 ｜ 情景分析 ｜ 交易尚未确定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00784"/>
            <a:ext cx="11091672" cy="201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47088"/>
            <a:ext cx="2670048" cy="960120"/>
          </a:xfrm>
          <a:prstGeom prst="rect">
            <a:avLst/>
          </a:prstGeom>
          <a:solidFill>
            <a:srgbClr val="F7F9FC"/>
          </a:solidFill>
          <a:ln w="6350">
            <a:solidFill>
              <a:srgbClr val="D5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47088"/>
            <a:ext cx="54864" cy="9601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2487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5B6B7C"/>
                </a:solidFill>
                <a:latin typeface="Microsoft YaHei"/>
                <a:ea typeface="Microsoft YaHei"/>
              </a:rPr>
              <a:t>备考 LTM 营业收入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103120"/>
            <a:ext cx="24871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2545"/>
                </a:solidFill>
                <a:latin typeface="Microsoft YaHei"/>
                <a:ea typeface="Microsoft YaHei"/>
              </a:rPr>
              <a:t>1,347 亿美元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560320"/>
            <a:ext cx="24871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0E7C7B"/>
                </a:solidFill>
                <a:latin typeface="Microsoft YaHei"/>
                <a:ea typeface="Microsoft YaHei"/>
              </a:rPr>
              <a:t>较 2025 全年 +19.3%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4992" y="1847088"/>
            <a:ext cx="2670048" cy="960120"/>
          </a:xfrm>
          <a:prstGeom prst="rect">
            <a:avLst/>
          </a:prstGeom>
          <a:solidFill>
            <a:srgbClr val="F7F9FC"/>
          </a:solidFill>
          <a:ln w="6350">
            <a:solidFill>
              <a:srgbClr val="D5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4992" y="1847088"/>
            <a:ext cx="54864" cy="960120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1296" y="1938528"/>
            <a:ext cx="2487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5B6B7C"/>
                </a:solidFill>
                <a:latin typeface="Microsoft YaHei"/>
                <a:ea typeface="Microsoft YaHei"/>
              </a:rPr>
              <a:t>调整后 EBITDA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1296" y="2103120"/>
            <a:ext cx="24871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2545"/>
                </a:solidFill>
                <a:latin typeface="Microsoft YaHei"/>
                <a:ea typeface="Microsoft YaHei"/>
              </a:rPr>
              <a:t>297 亿美元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2560320"/>
            <a:ext cx="24871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13A89E"/>
                </a:solidFill>
                <a:latin typeface="Microsoft YaHei"/>
                <a:ea typeface="Microsoft YaHei"/>
              </a:rPr>
              <a:t>利润率 22.1%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1344" y="1847088"/>
            <a:ext cx="2670048" cy="960120"/>
          </a:xfrm>
          <a:prstGeom prst="rect">
            <a:avLst/>
          </a:prstGeom>
          <a:solidFill>
            <a:srgbClr val="F7F9FC"/>
          </a:solidFill>
          <a:ln w="6350">
            <a:solidFill>
              <a:srgbClr val="D5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1847088"/>
            <a:ext cx="54864" cy="9601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938528"/>
            <a:ext cx="2487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5B6B7C"/>
                </a:solidFill>
                <a:latin typeface="Microsoft YaHei"/>
                <a:ea typeface="Microsoft YaHei"/>
              </a:rPr>
              <a:t>净现金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103120"/>
            <a:ext cx="24871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2545"/>
                </a:solidFill>
                <a:latin typeface="Microsoft YaHei"/>
                <a:ea typeface="Microsoft YaHei"/>
              </a:rPr>
              <a:t>869 亿美元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560320"/>
            <a:ext cx="24871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0E7C7B"/>
                </a:solidFill>
                <a:latin typeface="Microsoft YaHei"/>
                <a:ea typeface="Microsoft YaHei"/>
              </a:rPr>
              <a:t>有息负债 484 亿美元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97696" y="1847088"/>
            <a:ext cx="2670048" cy="960120"/>
          </a:xfrm>
          <a:prstGeom prst="rect">
            <a:avLst/>
          </a:prstGeom>
          <a:solidFill>
            <a:srgbClr val="F7F9FC"/>
          </a:solidFill>
          <a:ln w="6350">
            <a:solidFill>
              <a:srgbClr val="D5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97696" y="1847088"/>
            <a:ext cx="54864" cy="960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938528"/>
            <a:ext cx="2487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5B6B7C"/>
                </a:solidFill>
                <a:latin typeface="Microsoft YaHei"/>
                <a:ea typeface="Microsoft YaHei"/>
              </a:rPr>
              <a:t>LTM 自由现金流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103120"/>
            <a:ext cx="24871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2545"/>
                </a:solidFill>
                <a:latin typeface="Microsoft YaHei"/>
                <a:ea typeface="Microsoft YaHei"/>
              </a:rPr>
              <a:t>-359 亿美元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560320"/>
            <a:ext cx="24871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C0392B"/>
                </a:solidFill>
                <a:latin typeface="Microsoft YaHei"/>
                <a:ea typeface="Microsoft YaHei"/>
              </a:rPr>
              <a:t>capex 699 亿美元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017520"/>
            <a:ext cx="6629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0B2545"/>
                </a:solidFill>
                <a:latin typeface="Microsoft YaHei"/>
                <a:ea typeface="Microsoft YaHei"/>
              </a:rPr>
              <a:t>三句话结论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346704"/>
            <a:ext cx="50292" cy="3840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3310128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1B2A3A"/>
                </a:solidFill>
                <a:latin typeface="Microsoft YaHei"/>
                <a:ea typeface="Microsoft YaHei"/>
              </a:rPr>
              <a:t>收入仍是“卖车”的公司：Tesla 汽车+服务占 67.8%，Connectivity 与 SI 合计仅 20.7%。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95344"/>
            <a:ext cx="50292" cy="3840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3858768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1B2A3A"/>
                </a:solidFill>
                <a:latin typeface="Microsoft YaHei"/>
                <a:ea typeface="Microsoft YaHei"/>
              </a:rPr>
              <a:t>利润却是“连接”的公司：Connectivity 贡献 65 亿美元经营利润，SI 与 Space 合计亏损 72 亿美元。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443984"/>
            <a:ext cx="50292" cy="3840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4407408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1B2A3A"/>
                </a:solidFill>
                <a:latin typeface="Microsoft YaHei"/>
                <a:ea typeface="Microsoft YaHei"/>
              </a:rPr>
              <a:t>交易本质：用 Tesla 的现金流与市值，为 SpaceX 的算力与太空基础设施融资；合并后 FCF -359 亿美元，净现金只够约 2.4 年。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3017520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B2545"/>
                </a:solidFill>
                <a:latin typeface="Microsoft YaHei"/>
                <a:ea typeface="Microsoft YaHei"/>
              </a:rPr>
              <a:t>LTM 收入结构（合计 1,347 亿美元）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43800" y="3310127"/>
            <a:ext cx="2265256" cy="34747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43800" y="3392423"/>
            <a:ext cx="226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>
                <a:solidFill>
                  <a:srgbClr val="FFFFFF"/>
                </a:solidFill>
                <a:latin typeface="Microsoft YaHei"/>
                <a:ea typeface="Microsoft YaHei"/>
              </a:rPr>
              <a:t>56%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09056" y="3310127"/>
            <a:ext cx="492358" cy="347472"/>
          </a:xfrm>
          <a:prstGeom prst="rect">
            <a:avLst/>
          </a:prstGeom>
          <a:solidFill>
            <a:srgbClr val="3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09056" y="3392423"/>
            <a:ext cx="49235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>
                <a:solidFill>
                  <a:srgbClr val="FFFFFF"/>
                </a:solidFill>
                <a:latin typeface="Microsoft YaHei"/>
                <a:ea typeface="Microsoft YaHei"/>
              </a:rPr>
              <a:t>12%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01415" y="3310127"/>
            <a:ext cx="370286" cy="347472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671701" y="3310127"/>
            <a:ext cx="483813" cy="34747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71701" y="3392423"/>
            <a:ext cx="48381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>
                <a:solidFill>
                  <a:srgbClr val="FFFFFF"/>
                </a:solidFill>
                <a:latin typeface="Microsoft YaHei"/>
                <a:ea typeface="Microsoft YaHei"/>
              </a:rPr>
              <a:t>12%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55515" y="3310127"/>
            <a:ext cx="358079" cy="347472"/>
          </a:xfrm>
          <a:prstGeom prst="rect">
            <a:avLst/>
          </a:prstGeom>
          <a:solidFill>
            <a:srgbClr val="D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513594" y="3310127"/>
            <a:ext cx="125734" cy="347472"/>
          </a:xfrm>
          <a:prstGeom prst="rect">
            <a:avLst/>
          </a:prstGeom>
          <a:solidFill>
            <a:srgbClr val="E0B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43800" y="3803903"/>
            <a:ext cx="91440" cy="914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71816" y="3749039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5B6B7C"/>
                </a:solidFill>
                <a:latin typeface="Microsoft YaHei"/>
                <a:ea typeface="Microsoft YaHei"/>
              </a:rPr>
              <a:t>汽车 55.7%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69680" y="3803903"/>
            <a:ext cx="91440" cy="91440"/>
          </a:xfrm>
          <a:prstGeom prst="rect">
            <a:avLst/>
          </a:prstGeom>
          <a:solidFill>
            <a:srgbClr val="3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97696" y="3749039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5B6B7C"/>
                </a:solidFill>
                <a:latin typeface="Microsoft YaHei"/>
                <a:ea typeface="Microsoft YaHei"/>
              </a:rPr>
              <a:t>服务 12.1%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195560" y="3803903"/>
            <a:ext cx="91440" cy="91440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323576" y="3749039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5B6B7C"/>
                </a:solidFill>
                <a:latin typeface="Microsoft YaHei"/>
                <a:ea typeface="Microsoft YaHei"/>
              </a:rPr>
              <a:t>能源 9.1%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43800" y="4023359"/>
            <a:ext cx="91440" cy="914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71816" y="3968496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5B6B7C"/>
                </a:solidFill>
                <a:latin typeface="Microsoft YaHei"/>
                <a:ea typeface="Microsoft YaHei"/>
              </a:rPr>
              <a:t>Connectivity 11.9%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69680" y="4023359"/>
            <a:ext cx="91440" cy="91440"/>
          </a:xfrm>
          <a:prstGeom prst="rect">
            <a:avLst/>
          </a:prstGeom>
          <a:solidFill>
            <a:srgbClr val="D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97696" y="3968496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5B6B7C"/>
                </a:solidFill>
                <a:latin typeface="Microsoft YaHei"/>
                <a:ea typeface="Microsoft YaHei"/>
              </a:rPr>
              <a:t>SI 8.8%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95560" y="4023359"/>
            <a:ext cx="91440" cy="91440"/>
          </a:xfrm>
          <a:prstGeom prst="rect">
            <a:avLst/>
          </a:prstGeom>
          <a:solidFill>
            <a:srgbClr val="E0B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23576" y="3968496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5B6B7C"/>
                </a:solidFill>
                <a:latin typeface="Microsoft YaHei"/>
                <a:ea typeface="Microsoft YaHei"/>
              </a:rPr>
              <a:t>Space 3.1%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43800" y="4736592"/>
            <a:ext cx="4069080" cy="841248"/>
          </a:xfrm>
          <a:prstGeom prst="rect">
            <a:avLst/>
          </a:prstGeom>
          <a:solidFill>
            <a:srgbClr val="E6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543800" y="4736592"/>
            <a:ext cx="50292" cy="8412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80960" y="4809744"/>
            <a:ext cx="38679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0B2545"/>
                </a:solidFill>
                <a:latin typeface="Microsoft YaHei"/>
                <a:ea typeface="Microsoft YaHei"/>
              </a:rPr>
              <a:t>读法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80960" y="5010912"/>
            <a:ext cx="386791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1B2A3A"/>
                </a:solidFill>
                <a:latin typeface="Microsoft YaHei"/>
                <a:ea typeface="Microsoft YaHei"/>
              </a:rPr>
              <a:t>汽车仍占 56%，但增长与利润的边际来自 Connectivity 与 SI；合并不会改变收入底色。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5797296"/>
            <a:ext cx="11091672" cy="47548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3232" y="58795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FFFFFF"/>
                </a:solidFill>
                <a:latin typeface="Microsoft YaHei"/>
                <a:ea typeface="Microsoft YaHei"/>
              </a:rPr>
              <a:t>基准换股比例 2.91 : 1 ｜ Tesla 原股东 45.9% / SpaceX 54.1% ｜ 马斯克 33.7% 经济权益 / 75.3% 投票权 ｜ 20% 溢价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473952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60" b="0">
                <a:solidFill>
                  <a:srgbClr val="5B6B7C"/>
                </a:solidFill>
                <a:latin typeface="Microsoft YaHei"/>
                <a:ea typeface="Microsoft YaHei"/>
              </a:rPr>
              <a:t>来源：公司披露（SpaceX 招股书、2026Q2 10-Q、2026Q3 业绩公告；Tesla 2025 10-K、2026Q3 10-Q/业绩公告、2026 委托书）；市场数据 stockanalysis.com，2026-10-21 收盘；模型测算。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B7C"/>
                </a:solidFill>
                <a:latin typeface="Microsoft YaHei"/>
                <a:ea typeface="Microsoft YaHei"/>
              </a:rPr>
              <a:t>收入结构 ｜ 合并备考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37744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B6B7C"/>
                </a:solidFill>
                <a:latin typeface="Microsoft YaHei"/>
                <a:ea typeface="Microsoft YaHei"/>
              </a:rPr>
              <a:t>02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50" b="1">
                <a:solidFill>
                  <a:srgbClr val="0B2545"/>
                </a:solidFill>
                <a:latin typeface="Microsoft YaHei"/>
                <a:ea typeface="Microsoft YaHei"/>
              </a:rPr>
              <a:t>收入：汽车仍占 56%，Connectivity 与 SI 合计 21%，合并没有改变“卖车”的收入底色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091672" cy="201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venue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6720840" cy="274962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543800" y="1664208"/>
            <a:ext cx="4069080" cy="896112"/>
          </a:xfrm>
          <a:prstGeom prst="rect">
            <a:avLst/>
          </a:prstGeom>
          <a:solidFill>
            <a:srgbClr val="F7F9FC"/>
          </a:solidFill>
          <a:ln w="6350">
            <a:solidFill>
              <a:srgbClr val="D5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43800" y="1664208"/>
            <a:ext cx="50292" cy="89611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99248" y="1737360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0B2545"/>
                </a:solidFill>
                <a:latin typeface="Microsoft YaHei"/>
                <a:ea typeface="Microsoft YaHei"/>
              </a:rPr>
              <a:t>汽车 + 服务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9248" y="1938528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545"/>
                </a:solidFill>
                <a:latin typeface="Microsoft YaHei"/>
                <a:ea typeface="Microsoft YaHei"/>
              </a:rPr>
              <a:t>913 亿美元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2212848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1B2A3A"/>
                </a:solidFill>
                <a:latin typeface="Microsoft YaHei"/>
                <a:ea typeface="Microsoft YaHei"/>
              </a:rPr>
              <a:t>67.8% 收入；Q3 交付 486,532 辆；服务收入同比 +32%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2688336"/>
            <a:ext cx="4069080" cy="896112"/>
          </a:xfrm>
          <a:prstGeom prst="rect">
            <a:avLst/>
          </a:prstGeom>
          <a:solidFill>
            <a:srgbClr val="F7F9FC"/>
          </a:solidFill>
          <a:ln w="6350">
            <a:solidFill>
              <a:srgbClr val="D5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43800" y="2688336"/>
            <a:ext cx="50292" cy="89611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2761488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0E7C7B"/>
                </a:solidFill>
                <a:latin typeface="Microsoft YaHei"/>
                <a:ea typeface="Microsoft YaHei"/>
              </a:rPr>
              <a:t>Connectivity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2962656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545"/>
                </a:solidFill>
                <a:latin typeface="Microsoft YaHei"/>
                <a:ea typeface="Microsoft YaHei"/>
              </a:rPr>
              <a:t>160 亿美元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3236976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1B2A3A"/>
                </a:solidFill>
                <a:latin typeface="Microsoft YaHei"/>
                <a:ea typeface="Microsoft YaHei"/>
              </a:rPr>
              <a:t>11.9% 收入；Q3 同比 +69%；Starlink 用户 1,360 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3712464"/>
            <a:ext cx="4069080" cy="896112"/>
          </a:xfrm>
          <a:prstGeom prst="rect">
            <a:avLst/>
          </a:prstGeom>
          <a:solidFill>
            <a:srgbClr val="F7F9FC"/>
          </a:solidFill>
          <a:ln w="6350">
            <a:solidFill>
              <a:srgbClr val="D5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43800" y="3712464"/>
            <a:ext cx="50292" cy="896112"/>
          </a:xfrm>
          <a:prstGeom prst="rect">
            <a:avLst/>
          </a:prstGeom>
          <a:solidFill>
            <a:srgbClr val="D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9248" y="3785616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D99A00"/>
                </a:solidFill>
                <a:latin typeface="Microsoft YaHei"/>
                <a:ea typeface="Microsoft YaHei"/>
              </a:rPr>
              <a:t>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3986784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545"/>
                </a:solidFill>
                <a:latin typeface="Microsoft YaHei"/>
                <a:ea typeface="Microsoft YaHei"/>
              </a:rPr>
              <a:t>119 亿美元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8" y="4261104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1B2A3A"/>
                </a:solidFill>
                <a:latin typeface="Microsoft YaHei"/>
                <a:ea typeface="Microsoft YaHei"/>
              </a:rPr>
              <a:t>8.8% 收入；Q3 同比 +830%；算力 1.7 GW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956048"/>
            <a:ext cx="11091672" cy="731520"/>
          </a:xfrm>
          <a:prstGeom prst="rect">
            <a:avLst/>
          </a:prstGeom>
          <a:solidFill>
            <a:srgbClr val="E6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956048"/>
            <a:ext cx="54864" cy="7315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02920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0E7C7B"/>
                </a:solidFill>
                <a:latin typeface="Microsoft YaHei"/>
                <a:ea typeface="Microsoft YaHei"/>
              </a:rPr>
              <a:t>So what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230368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1B2A3A"/>
                </a:solidFill>
                <a:latin typeface="Microsoft YaHei"/>
                <a:ea typeface="Microsoft YaHei"/>
              </a:rPr>
              <a:t>收入端的增量主要来自 Connectivity 与 SI；汽车仍是 56%，但 Q3 汽车收入同比 -3%，能源 -16%，只有服务（+32%）在增长。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833872"/>
            <a:ext cx="1719072" cy="4572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5870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>
                <a:solidFill>
                  <a:srgbClr val="5B6B7C"/>
                </a:solidFill>
                <a:latin typeface="Microsoft YaHei"/>
                <a:ea typeface="Microsoft YaHei"/>
              </a:rPr>
              <a:t>汽车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01675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0392B"/>
                </a:solidFill>
                <a:latin typeface="Microsoft YaHei"/>
                <a:ea typeface="Microsoft YaHei"/>
              </a:rPr>
              <a:t>-3%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95728" y="5833872"/>
            <a:ext cx="1719072" cy="4572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68880" y="5870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>
                <a:solidFill>
                  <a:srgbClr val="5B6B7C"/>
                </a:solidFill>
                <a:latin typeface="Microsoft YaHei"/>
                <a:ea typeface="Microsoft YaHei"/>
              </a:rPr>
              <a:t>服务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601675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7C7B"/>
                </a:solidFill>
                <a:latin typeface="Microsoft YaHei"/>
                <a:ea typeface="Microsoft YaHei"/>
              </a:rPr>
              <a:t>+32%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42816" y="5833872"/>
            <a:ext cx="1719072" cy="4572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15968" y="5870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>
                <a:solidFill>
                  <a:srgbClr val="5B6B7C"/>
                </a:solidFill>
                <a:latin typeface="Microsoft YaHei"/>
                <a:ea typeface="Microsoft YaHei"/>
              </a:rPr>
              <a:t>能源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601675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0392B"/>
                </a:solidFill>
                <a:latin typeface="Microsoft YaHei"/>
                <a:ea typeface="Microsoft YaHei"/>
              </a:rPr>
              <a:t>-16%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9904" y="5833872"/>
            <a:ext cx="1719072" cy="4572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63056" y="5870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>
                <a:solidFill>
                  <a:srgbClr val="5B6B7C"/>
                </a:solidFill>
                <a:latin typeface="Microsoft YaHei"/>
                <a:ea typeface="Microsoft YaHei"/>
              </a:rPr>
              <a:t>Connectivity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63056" y="601675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7C7B"/>
                </a:solidFill>
                <a:latin typeface="Microsoft YaHei"/>
                <a:ea typeface="Microsoft YaHei"/>
              </a:rPr>
              <a:t>+69%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36992" y="5833872"/>
            <a:ext cx="1719072" cy="4572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10144" y="5870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>
                <a:solidFill>
                  <a:srgbClr val="5B6B7C"/>
                </a:solidFill>
                <a:latin typeface="Microsoft YaHei"/>
                <a:ea typeface="Microsoft YaHei"/>
              </a:rPr>
              <a:t>SI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4" y="601675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7C7B"/>
                </a:solidFill>
                <a:latin typeface="Microsoft YaHei"/>
                <a:ea typeface="Microsoft YaHei"/>
              </a:rPr>
              <a:t>+830%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84080" y="5833872"/>
            <a:ext cx="1719072" cy="4572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57232" y="5870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>
                <a:solidFill>
                  <a:srgbClr val="5B6B7C"/>
                </a:solidFill>
                <a:latin typeface="Microsoft YaHei"/>
                <a:ea typeface="Microsoft YaHei"/>
              </a:rPr>
              <a:t>Space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57232" y="601675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E7C7B"/>
                </a:solidFill>
                <a:latin typeface="Microsoft YaHei"/>
                <a:ea typeface="Microsoft YaHei"/>
              </a:rPr>
              <a:t>+6%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60" b="0">
                <a:solidFill>
                  <a:srgbClr val="5B6B7C"/>
                </a:solidFill>
                <a:latin typeface="Microsoft YaHei"/>
                <a:ea typeface="Microsoft YaHei"/>
              </a:rPr>
              <a:t>注：Q3 同比为 2026Q3 vs 2025Q3；汽车为整车/积分/租赁收入，服务含超充、维修、保险等；来源：公司披露，模型测算。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B7C"/>
                </a:solidFill>
                <a:latin typeface="Microsoft YaHei"/>
                <a:ea typeface="Microsoft YaHei"/>
              </a:rPr>
              <a:t>利润与现金流 ｜ 合并备考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37744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B6B7C"/>
                </a:solidFill>
                <a:latin typeface="Microsoft YaHei"/>
                <a:ea typeface="Microsoft YaHei"/>
              </a:rPr>
              <a:t>03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0B2545"/>
                </a:solidFill>
                <a:latin typeface="Microsoft YaHei"/>
                <a:ea typeface="Microsoft YaHei"/>
              </a:rPr>
              <a:t>利润：Connectivity 贡献 65 亿美元，SI 与 Space 亏损 72 亿美元
——利润集中度远高于收入集中度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091672" cy="201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ofit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6537960" cy="26748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664208"/>
            <a:ext cx="4297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0B2545"/>
                </a:solidFill>
                <a:latin typeface="Microsoft YaHei"/>
                <a:ea typeface="Microsoft YaHei"/>
              </a:rPr>
              <a:t>从 EBITDA 到自由现金流（十亿美元）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0" y="1938528"/>
          <a:ext cx="4297680" cy="29992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65960"/>
                <a:gridCol w="914400"/>
                <a:gridCol w="141732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项目</a:t>
                      </a:r>
                    </a:p>
                  </a:txBody>
                  <a:tcPr marL="36576" marR="36576" marT="13716" marB="13716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金额</a:t>
                      </a:r>
                    </a:p>
                  </a:txBody>
                  <a:tcPr marL="36576" marR="36576" marT="13716" marB="13716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比率/备注</a:t>
                      </a:r>
                    </a:p>
                  </a:txBody>
                  <a:tcPr marL="36576" marR="36576" marT="13716" marB="13716" anchor="ctr">
                    <a:solidFill>
                      <a:srgbClr val="0B254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70" b="1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调整后 EBITDA</a:t>
                      </a:r>
                    </a:p>
                  </a:txBody>
                  <a:tcPr marL="36576" marR="36576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7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29.7</a:t>
                      </a:r>
                    </a:p>
                  </a:txBody>
                  <a:tcPr marL="36576" marR="36576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7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22.1%</a:t>
                      </a:r>
                    </a:p>
                  </a:txBody>
                  <a:tcPr marL="36576" marR="36576" marT="13716" marB="13716" anchor="ctr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70" b="1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折旧与摊销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7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-17.6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7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70" b="1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SBC/其他（减项）</a:t>
                      </a:r>
                    </a:p>
                  </a:txBody>
                  <a:tcPr marL="36576" marR="36576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7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-9.6</a:t>
                      </a:r>
                    </a:p>
                  </a:txBody>
                  <a:tcPr marL="36576" marR="36576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7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L="36576" marR="36576" marT="13716" marB="13716" anchor="ctr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70" b="1">
                          <a:solidFill>
                            <a:srgbClr val="0B2545"/>
                          </a:solidFill>
                          <a:latin typeface="Microsoft YaHei"/>
                          <a:ea typeface="Microsoft YaHei"/>
                        </a:rPr>
                        <a:t>经营利润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70" b="1">
                          <a:solidFill>
                            <a:srgbClr val="0B2545"/>
                          </a:solidFill>
                          <a:latin typeface="Microsoft YaHei"/>
                          <a:ea typeface="Microsoft YaHei"/>
                        </a:rPr>
                        <a:t>2.6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70" b="1">
                          <a:solidFill>
                            <a:srgbClr val="0B2545"/>
                          </a:solidFill>
                          <a:latin typeface="Microsoft YaHei"/>
                          <a:ea typeface="Microsoft YaHei"/>
                        </a:rPr>
                        <a:t>1.9%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70" b="1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净利息</a:t>
                      </a:r>
                    </a:p>
                  </a:txBody>
                  <a:tcPr marL="36576" marR="36576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7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+0.4</a:t>
                      </a:r>
                    </a:p>
                  </a:txBody>
                  <a:tcPr marL="36576" marR="36576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7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L="36576" marR="36576" marT="13716" marB="13716" anchor="ctr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70" b="1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其他收益/费用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7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-3.0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7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70" b="1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所得税</a:t>
                      </a:r>
                    </a:p>
                  </a:txBody>
                  <a:tcPr marL="36576" marR="36576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7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-0.4</a:t>
                      </a:r>
                    </a:p>
                  </a:txBody>
                  <a:tcPr marL="36576" marR="36576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7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L="36576" marR="36576" marT="13716" marB="13716" anchor="ctr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70" b="1">
                          <a:solidFill>
                            <a:srgbClr val="0B2545"/>
                          </a:solidFill>
                          <a:latin typeface="Microsoft YaHei"/>
                          <a:ea typeface="Microsoft YaHei"/>
                        </a:rPr>
                        <a:t>归母净利润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70" b="1">
                          <a:solidFill>
                            <a:srgbClr val="0B2545"/>
                          </a:solidFill>
                          <a:latin typeface="Microsoft YaHei"/>
                          <a:ea typeface="Microsoft YaHei"/>
                        </a:rPr>
                        <a:t>-0.4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70" b="1">
                          <a:solidFill>
                            <a:srgbClr val="0B2545"/>
                          </a:solidFill>
                          <a:latin typeface="Microsoft YaHei"/>
                          <a:ea typeface="Microsoft YaHei"/>
                        </a:rPr>
                        <a:t>-0.3%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70" b="1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资本开支</a:t>
                      </a:r>
                    </a:p>
                  </a:txBody>
                  <a:tcPr marL="36576" marR="36576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7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-69.9</a:t>
                      </a:r>
                    </a:p>
                  </a:txBody>
                  <a:tcPr marL="36576" marR="36576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7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51.9% 收入</a:t>
                      </a:r>
                    </a:p>
                  </a:txBody>
                  <a:tcPr marL="36576" marR="36576" marT="13716" marB="13716" anchor="ctr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70" b="1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自由现金流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70" b="1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-35.9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70" b="1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FB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138928"/>
            <a:ext cx="54864" cy="621792"/>
          </a:xfrm>
          <a:prstGeom prst="rect">
            <a:avLst/>
          </a:prstGeom>
          <a:solidFill>
            <a:srgbClr val="D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5193792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99A00"/>
                </a:solidFill>
                <a:latin typeface="Microsoft YaHei"/>
                <a:ea typeface="Microsoft YaHei"/>
              </a:rPr>
              <a:t>So 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394960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1B2A3A"/>
                </a:solidFill>
                <a:latin typeface="Microsoft YaHei"/>
                <a:ea typeface="Microsoft YaHei"/>
              </a:rPr>
              <a:t>利润表由 Connectivity 撑住，现金流由 SpaceX 的 capex 拖累；合并后的第一财务纪律是资本开支回报率，而不是收入协同。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60" b="0">
                <a:solidFill>
                  <a:srgbClr val="5B6B7C"/>
                </a:solidFill>
                <a:latin typeface="Microsoft YaHei"/>
                <a:ea typeface="Microsoft YaHei"/>
              </a:rPr>
              <a:t>注：SBC/其他（减项）为调整后 EBITDA 与经营利润之差；净利息 = 利息收入 33.0 − 利息费用 28.9；资本开支比率 = capex / LTM 收入。因四舍五入，分项加总可能有 0.1 差异。来源：公司披露，模型测算。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B7C"/>
                </a:solidFill>
                <a:latin typeface="Microsoft YaHei"/>
                <a:ea typeface="Microsoft YaHei"/>
              </a:rPr>
              <a:t>换股比例 ｜ 持股结构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37744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B6B7C"/>
                </a:solidFill>
                <a:latin typeface="Microsoft YaHei"/>
                <a:ea typeface="Microsoft YaHei"/>
              </a:rPr>
              <a:t>04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20" b="1">
                <a:solidFill>
                  <a:srgbClr val="0B2545"/>
                </a:solidFill>
                <a:latin typeface="Microsoft YaHei"/>
                <a:ea typeface="Microsoft YaHei"/>
              </a:rPr>
              <a:t>换股：按市值 +20% 溢价，Tesla 原股东占 45.9%，马斯克经济权益 33.7%、投票权 75.3%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091672" cy="201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6812280" cy="23042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17320"/>
                <a:gridCol w="1051560"/>
                <a:gridCol w="1051560"/>
                <a:gridCol w="822960"/>
                <a:gridCol w="914400"/>
                <a:gridCol w="777240"/>
                <a:gridCol w="77724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定价方法</a:t>
                      </a:r>
                    </a:p>
                  </a:txBody>
                  <a:tcPr marL="36576" marR="36576" marT="13716" marB="13716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SPCX 价值</a:t>
                      </a:r>
                    </a:p>
                  </a:txBody>
                  <a:tcPr marL="36576" marR="36576" marT="13716" marB="13716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Tesla 价值</a:t>
                      </a:r>
                    </a:p>
                  </a:txBody>
                  <a:tcPr marL="36576" marR="36576" marT="13716" marB="13716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换股比例</a:t>
                      </a:r>
                    </a:p>
                  </a:txBody>
                  <a:tcPr marL="36576" marR="36576" marT="13716" marB="13716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含 20% 溢价</a:t>
                      </a:r>
                    </a:p>
                  </a:txBody>
                  <a:tcPr marL="36576" marR="36576" marT="13716" marB="13716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Tesla 股东</a:t>
                      </a:r>
                    </a:p>
                  </a:txBody>
                  <a:tcPr marL="36576" marR="36576" marT="13716" marB="13716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Musk 权益</a:t>
                      </a:r>
                    </a:p>
                  </a:txBody>
                  <a:tcPr marL="36576" marR="36576" marT="13716" marB="13716" anchor="ctr"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50" b="1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A 市值法</a:t>
                      </a:r>
                    </a:p>
                  </a:txBody>
                  <a:tcPr marL="36576" marR="36576" marT="13716" marB="13716" anchor="ctr">
                    <a:solidFill>
                      <a:srgbClr val="FB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5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2,163</a:t>
                      </a:r>
                    </a:p>
                  </a:txBody>
                  <a:tcPr marL="36576" marR="36576" marT="13716" marB="13716" anchor="ctr">
                    <a:solidFill>
                      <a:srgbClr val="FB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5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1,528</a:t>
                      </a:r>
                    </a:p>
                  </a:txBody>
                  <a:tcPr marL="36576" marR="36576" marT="13716" marB="13716" anchor="ctr">
                    <a:solidFill>
                      <a:srgbClr val="FB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5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2.426</a:t>
                      </a:r>
                    </a:p>
                  </a:txBody>
                  <a:tcPr marL="36576" marR="36576" marT="13716" marB="13716" anchor="ctr">
                    <a:solidFill>
                      <a:srgbClr val="FB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5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2.911</a:t>
                      </a:r>
                    </a:p>
                  </a:txBody>
                  <a:tcPr marL="36576" marR="36576" marT="13716" marB="13716" anchor="ctr">
                    <a:solidFill>
                      <a:srgbClr val="FB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5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45.9%</a:t>
                      </a:r>
                    </a:p>
                  </a:txBody>
                  <a:tcPr marL="36576" marR="36576" marT="13716" marB="13716" anchor="ctr">
                    <a:solidFill>
                      <a:srgbClr val="FB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5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33.7%</a:t>
                      </a:r>
                    </a:p>
                  </a:txBody>
                  <a:tcPr marL="36576" marR="36576" marT="13716" marB="13716" anchor="ctr">
                    <a:solidFill>
                      <a:srgbClr val="FBF3D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50" b="1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B 市值法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5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2,009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5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1,455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5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2.488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5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2.985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5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46.5%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5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33.5%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50" b="1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C 30日成交量加权均价</a:t>
                      </a:r>
                    </a:p>
                  </a:txBody>
                  <a:tcPr marL="36576" marR="36576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5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2,096</a:t>
                      </a:r>
                    </a:p>
                  </a:txBody>
                  <a:tcPr marL="36576" marR="36576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5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1,456</a:t>
                      </a:r>
                    </a:p>
                  </a:txBody>
                  <a:tcPr marL="36576" marR="36576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5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2.387</a:t>
                      </a:r>
                    </a:p>
                  </a:txBody>
                  <a:tcPr marL="36576" marR="36576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5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2.864</a:t>
                      </a:r>
                    </a:p>
                  </a:txBody>
                  <a:tcPr marL="36576" marR="36576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5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45.5%</a:t>
                      </a:r>
                    </a:p>
                  </a:txBody>
                  <a:tcPr marL="36576" marR="36576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5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33.8%</a:t>
                      </a:r>
                    </a:p>
                  </a:txBody>
                  <a:tcPr marL="36576" marR="36576" marT="13716" marB="13716" anchor="ctr"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50" b="1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D LTM收入倍数法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5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1,653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5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1,279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5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2.657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5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3.189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5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48.2%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5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33.1%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750" b="1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E LTM调整后EBITDA倍数法</a:t>
                      </a:r>
                    </a:p>
                  </a:txBody>
                  <a:tcPr marL="36576" marR="36576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5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1,695</a:t>
                      </a:r>
                    </a:p>
                  </a:txBody>
                  <a:tcPr marL="36576" marR="36576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5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1,086</a:t>
                      </a:r>
                    </a:p>
                  </a:txBody>
                  <a:tcPr marL="36576" marR="36576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5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2.200</a:t>
                      </a:r>
                    </a:p>
                  </a:txBody>
                  <a:tcPr marL="36576" marR="36576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5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2.640</a:t>
                      </a:r>
                    </a:p>
                  </a:txBody>
                  <a:tcPr marL="36576" marR="36576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5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43.5%</a:t>
                      </a:r>
                    </a:p>
                  </a:txBody>
                  <a:tcPr marL="36576" marR="36576" marT="13716" marB="1371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750" b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</a:rPr>
                        <a:t>34.4%</a:t>
                      </a:r>
                    </a:p>
                  </a:txBody>
                  <a:tcPr marL="36576" marR="36576" marT="13716" marB="13716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ownership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572768"/>
            <a:ext cx="4160520" cy="21180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269480" y="3822191"/>
            <a:ext cx="4160520" cy="62179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0920" y="3858768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5B6B7C"/>
                </a:solidFill>
                <a:latin typeface="Microsoft YaHei"/>
                <a:ea typeface="Microsoft YaHei"/>
              </a:rPr>
              <a:t>敏感性：0%–40% 溢价 × 五种方法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4059936"/>
            <a:ext cx="39776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>
                <a:solidFill>
                  <a:srgbClr val="0B2545"/>
                </a:solidFill>
                <a:latin typeface="Microsoft YaHei"/>
                <a:ea typeface="Microsoft YaHei"/>
              </a:rPr>
              <a:t>Tesla 原股东 39.4%–52.1% ｜ 20% 溢价下 43.5%–48.2%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498848"/>
            <a:ext cx="11091672" cy="822960"/>
          </a:xfrm>
          <a:prstGeom prst="rect">
            <a:avLst/>
          </a:prstGeom>
          <a:solidFill>
            <a:srgbClr val="E6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498848"/>
            <a:ext cx="50292" cy="82296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572000"/>
            <a:ext cx="10890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0B2545"/>
                </a:solidFill>
                <a:latin typeface="Microsoft YaHei"/>
                <a:ea typeface="Microsoft YaHei"/>
              </a:rPr>
              <a:t>价格—比例换算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773168"/>
            <a:ext cx="108905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60" b="0">
                <a:solidFill>
                  <a:srgbClr val="1B2A3A"/>
                </a:solidFill>
                <a:latin typeface="Microsoft YaHei"/>
                <a:ea typeface="Microsoft YaHei"/>
              </a:rPr>
              <a:t>换股比例每提高 0.1 股 SpaceX/Tesla，Tesla 原股东约 +0.8pp；20% 溢价对应约 3,055 亿美元增量对价；从市值法切到收入倍数法，Tesla 原股东多分约 2.3pp（45.9%→48.2%）。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49824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0B2545"/>
                </a:solidFill>
                <a:latin typeface="Microsoft YaHei"/>
                <a:ea typeface="Microsoft YaHei"/>
              </a:rPr>
              <a:t>持股桥（基准情形）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69280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1B2A3A"/>
                </a:solidFill>
                <a:latin typeface="Microsoft YaHei"/>
                <a:ea typeface="Microsoft YaHei"/>
              </a:rPr>
              <a:t>SpaceX 现有 135.79 亿股 − Tesla 持有 0.148 亿股 + 新发 115.07 亿股 = 250.71 亿股；Tesla 45.9% / SpaceX 54.1%；马斯克 33.7% 经济、75.3% 投票（合并前 look-through 35.0%）。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60" b="0">
                <a:solidFill>
                  <a:srgbClr val="5B6B7C"/>
                </a:solidFill>
                <a:latin typeface="Microsoft YaHei"/>
                <a:ea typeface="Microsoft YaHei"/>
              </a:rPr>
              <a:t>注：换股比例 = 每 1 股 Tesla 换得的 SpaceX 股数；SPCX/Tesla 价值为十亿美元；市场数据 2026-10-21 收盘；方法 D/E 倍数为假设。来源：模型测算，公司披露。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B7C"/>
                </a:solidFill>
                <a:latin typeface="Microsoft YaHei"/>
                <a:ea typeface="Microsoft YaHei"/>
              </a:rPr>
              <a:t>风险与待核实 ｜ 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37744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B6B7C"/>
                </a:solidFill>
                <a:latin typeface="Microsoft YaHei"/>
                <a:ea typeface="Microsoft YaHei"/>
              </a:rPr>
              <a:t>05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50" b="1">
                <a:solidFill>
                  <a:srgbClr val="0B2545"/>
                </a:solidFill>
                <a:latin typeface="Microsoft YaHei"/>
                <a:ea typeface="Microsoft YaHei"/>
              </a:rPr>
              <a:t>风险：估值分歧、控制权与现金流是三座大山；协同效应尚未入账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091672" cy="201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611880" cy="1572768"/>
          </a:xfrm>
          <a:prstGeom prst="rect">
            <a:avLst/>
          </a:prstGeom>
          <a:solidFill>
            <a:srgbClr val="F7F9FC"/>
          </a:solidFill>
          <a:ln w="6350">
            <a:solidFill>
              <a:srgbClr val="D5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61188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755648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C0392B"/>
                </a:solidFill>
                <a:latin typeface="Microsoft YaHei"/>
                <a:ea typeface="Microsoft YaHei"/>
              </a:rPr>
              <a:t>估值分歧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029968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0">
                <a:solidFill>
                  <a:srgbClr val="1B2A3A"/>
                </a:solidFill>
                <a:latin typeface="Microsoft YaHei"/>
                <a:ea typeface="Microsoft YaHei"/>
              </a:rPr>
              <a:t>SpaceX 65.9x LTM 收入 / 141.3x EBITDA；Tesla 14.4x / 99.5x。0% 溢价下 Tesla 原股东仅 41.4%，收入倍数法可到 48.2%。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926080"/>
            <a:ext cx="3337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5B6B7C"/>
                </a:solidFill>
                <a:latin typeface="Microsoft YaHei"/>
                <a:ea typeface="Microsoft YaHei"/>
              </a:rPr>
              <a:t>谈的是倍数与基准日，不是协同。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5112" y="1645920"/>
            <a:ext cx="3611880" cy="1572768"/>
          </a:xfrm>
          <a:prstGeom prst="rect">
            <a:avLst/>
          </a:prstGeom>
          <a:solidFill>
            <a:srgbClr val="F7F9FC"/>
          </a:solidFill>
          <a:ln w="6350">
            <a:solidFill>
              <a:srgbClr val="D5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1645920"/>
            <a:ext cx="3611880" cy="54864"/>
          </a:xfrm>
          <a:prstGeom prst="rect">
            <a:avLst/>
          </a:prstGeom>
          <a:solidFill>
            <a:srgbClr val="D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1416" y="1755648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D99A00"/>
                </a:solidFill>
                <a:latin typeface="Microsoft YaHei"/>
                <a:ea typeface="Microsoft YaHei"/>
              </a:rPr>
              <a:t>控制权与关联交易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2029968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0">
                <a:solidFill>
                  <a:srgbClr val="1B2A3A"/>
                </a:solidFill>
                <a:latin typeface="Microsoft YaHei"/>
                <a:ea typeface="Microsoft YaHei"/>
              </a:rPr>
              <a:t>Musk 经济权益 33.7%、投票权 75.3%；两家公司均已设特别委员会，但 Musk 同时是两家 CEO/董事长。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2926080"/>
            <a:ext cx="3337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5B6B7C"/>
                </a:solidFill>
                <a:latin typeface="Microsoft YaHei"/>
                <a:ea typeface="Microsoft YaHei"/>
              </a:rPr>
              <a:t>经济权与控制权的 41.6pp 缺口。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1583" y="1645920"/>
            <a:ext cx="3611880" cy="1572768"/>
          </a:xfrm>
          <a:prstGeom prst="rect">
            <a:avLst/>
          </a:prstGeom>
          <a:solidFill>
            <a:srgbClr val="F7F9FC"/>
          </a:solidFill>
          <a:ln w="6350">
            <a:solidFill>
              <a:srgbClr val="D5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3" y="1645920"/>
            <a:ext cx="361188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755648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0E7C7B"/>
                </a:solidFill>
                <a:latin typeface="Microsoft YaHei"/>
                <a:ea typeface="Microsoft YaHei"/>
              </a:rPr>
              <a:t>现金流与资本开支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029968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0">
                <a:solidFill>
                  <a:srgbClr val="1B2A3A"/>
                </a:solidFill>
                <a:latin typeface="Microsoft YaHei"/>
                <a:ea typeface="Microsoft YaHei"/>
              </a:rPr>
              <a:t>LTM FCF -359 亿美元；capex 699 亿美元（收入 51.9%）；净现金 869 亿美元 ≈ 2.4 年。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926080"/>
            <a:ext cx="3337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5B6B7C"/>
                </a:solidFill>
                <a:latin typeface="Microsoft YaHei"/>
                <a:ea typeface="Microsoft YaHei"/>
              </a:rPr>
              <a:t>SpaceX SI capex 446 亿美元，占合并 capex 64%。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703320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0B2545"/>
                </a:solidFill>
                <a:latin typeface="Microsoft YaHei"/>
                <a:ea typeface="Microsoft YaHei"/>
              </a:rPr>
              <a:t>还需要核实的问题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68496"/>
            <a:ext cx="6766560" cy="16459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041648"/>
            <a:ext cx="67665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780" b="1">
                <a:solidFill>
                  <a:srgbClr val="0E7C7B"/>
                </a:solidFill>
                <a:latin typeface="Microsoft YaHei"/>
              </a:rPr>
              <a:t>1. </a:t>
            </a:r>
            <a:r>
              <a:rPr sz="780">
                <a:solidFill>
                  <a:srgbClr val="1B2A3A"/>
                </a:solidFill>
                <a:latin typeface="Microsoft YaHei"/>
              </a:rPr>
              <a:t>交易结构：谁收购谁、collar、现金/股票比例、Musk 是否回避、评估权。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780" b="1">
                <a:solidFill>
                  <a:srgbClr val="0E7C7B"/>
                </a:solidFill>
                <a:latin typeface="Microsoft YaHei"/>
              </a:rPr>
              <a:t>2. </a:t>
            </a:r>
            <a:r>
              <a:rPr sz="780">
                <a:solidFill>
                  <a:srgbClr val="1B2A3A"/>
                </a:solidFill>
                <a:latin typeface="Microsoft YaHei"/>
              </a:rPr>
              <a:t>关联交易差异：Tesla 2025 年 5.73 亿美元 vs SpaceX 披露采购 6.37 亿美元，差约 0.64 亿美元。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780" b="1">
                <a:solidFill>
                  <a:srgbClr val="0E7C7B"/>
                </a:solidFill>
                <a:latin typeface="Microsoft YaHei"/>
              </a:rPr>
              <a:t>3. </a:t>
            </a:r>
            <a:r>
              <a:rPr sz="780">
                <a:solidFill>
                  <a:srgbClr val="1B2A3A"/>
                </a:solidFill>
                <a:latin typeface="Microsoft YaHei"/>
              </a:rPr>
              <a:t>SpaceX 分部：Q4 2025 毛利未披露；Cursor 425 亿美元对价、234 亿美元服务期股权激励的后续影响。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780" b="1">
                <a:solidFill>
                  <a:srgbClr val="0E7C7B"/>
                </a:solidFill>
                <a:latin typeface="Microsoft YaHei"/>
              </a:rPr>
              <a:t>4. </a:t>
            </a:r>
            <a:r>
              <a:rPr sz="780">
                <a:solidFill>
                  <a:srgbClr val="1B2A3A"/>
                </a:solidFill>
                <a:latin typeface="Microsoft YaHei"/>
              </a:rPr>
              <a:t>税务/会计：购买会计、商誉 1.72 万亿美元、年摊销 30 亿美元、交易费用 92 亿美元。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780" b="1">
                <a:solidFill>
                  <a:srgbClr val="0E7C7B"/>
                </a:solidFill>
                <a:latin typeface="Microsoft YaHei"/>
              </a:rPr>
              <a:t>5. </a:t>
            </a:r>
            <a:r>
              <a:rPr sz="780">
                <a:solidFill>
                  <a:srgbClr val="1B2A3A"/>
                </a:solidFill>
                <a:latin typeface="Microsoft YaHei"/>
              </a:rPr>
              <a:t>监管：HSR、CFIUS、FCC、欧盟、中国；双重股权与外资持股。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780" b="1">
                <a:solidFill>
                  <a:srgbClr val="0E7C7B"/>
                </a:solidFill>
                <a:latin typeface="Microsoft YaHei"/>
              </a:rPr>
              <a:t>6. </a:t>
            </a:r>
            <a:r>
              <a:rPr sz="780">
                <a:solidFill>
                  <a:srgbClr val="1B2A3A"/>
                </a:solidFill>
                <a:latin typeface="Microsoft YaHei"/>
              </a:rPr>
              <a:t>市场数据：30 日 VWAP 为近似；股本含未归属限制性股票，不含期权/可转债。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43800" y="3703320"/>
            <a:ext cx="4069080" cy="1783080"/>
          </a:xfrm>
          <a:prstGeom prst="rect">
            <a:avLst/>
          </a:prstGeom>
          <a:solidFill>
            <a:srgbClr val="FB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43800" y="3703320"/>
            <a:ext cx="54864" cy="1783080"/>
          </a:xfrm>
          <a:prstGeom prst="rect">
            <a:avLst/>
          </a:prstGeom>
          <a:solidFill>
            <a:srgbClr val="D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6679" y="3785615"/>
            <a:ext cx="3749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0B2545"/>
                </a:solidFill>
                <a:latin typeface="Microsoft YaHei"/>
                <a:ea typeface="Microsoft YaHei"/>
              </a:rPr>
              <a:t>本模型未计入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4059936"/>
            <a:ext cx="3749039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9" b="0">
                <a:solidFill>
                  <a:srgbClr val="1B2A3A"/>
                </a:solidFill>
                <a:latin typeface="Microsoft YaHei"/>
                <a:ea typeface="Microsoft YaHei"/>
              </a:rPr>
              <a:t>协同效应（收入/成本）｜ 重组与留任成本 ｜ 融资成本变化 ｜ 税务结构优化 ｜ 购买会计的完整 PPA ｜ 监管剥离与缓解措施。任何一项都可能显著改变备考利润与 EPS。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650992"/>
            <a:ext cx="11091672" cy="47548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70585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5B6B7C"/>
                </a:solidFill>
                <a:latin typeface="Microsoft YaHei"/>
                <a:ea typeface="Microsoft YaHei"/>
              </a:rPr>
              <a:t>本材料为内部研究与演示，不构成投资建议，不提供买入/卖出/持有评级或目标价，也不评价股价是否合理。所有备考数字为历史报表相加与关联交易抵消，不是购买会计后的合并报表。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60" b="0">
                <a:solidFill>
                  <a:srgbClr val="5B6B7C"/>
                </a:solidFill>
                <a:latin typeface="Microsoft YaHei"/>
                <a:ea typeface="Microsoft YaHei"/>
              </a:rPr>
              <a:t>来源：公司披露文件；市场数据 stockanalysis.com（2026-10-22 访问）；模型测算。详见《投委会备忘录》与《合并模型.xlsx》。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SpaceX × Tesla 合并：投委会汇报</dc:title>
  <dc:subject>内部讨论稿</dc:subject>
  <dc:creator>并购组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