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02336"/>
            <a:ext cx="118872" cy="164592"/>
          </a:xfrm>
          <a:prstGeom prst="rect">
            <a:avLst/>
          </a:prstGeom>
          <a:solidFill>
            <a:srgbClr val="0789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56616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ORBIT  /  投资委员会内部讨论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56616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2026.10.22    /  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合并将形成汽车主导、连接盈利、算力重投入的集团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0876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2026Q3有限备考 · 已抵销Megapack内部销售 · 金额为十亿美元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18504"/>
            <a:ext cx="11064240" cy="9144"/>
          </a:xfrm>
          <a:prstGeom prst="rect">
            <a:avLst/>
          </a:prstGeom>
          <a:solidFill>
            <a:srgbClr val="D9E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来源：S3 pp.3–12；T2附注13/14；T3 p.27。文件全名及假设见备忘录第5页 / 合并模型。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057400"/>
            <a:ext cx="3593592" cy="1033271"/>
          </a:xfrm>
          <a:prstGeom prst="rect">
            <a:avLst/>
          </a:prstGeom>
          <a:solidFill>
            <a:srgbClr val="FFFFFF"/>
          </a:solidFill>
          <a:ln>
            <a:solidFill>
              <a:srgbClr val="D9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7627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0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42.40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688336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营收  /  USD bn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2057400"/>
            <a:ext cx="3593592" cy="1033271"/>
          </a:xfrm>
          <a:prstGeom prst="rect">
            <a:avLst/>
          </a:prstGeom>
          <a:solidFill>
            <a:srgbClr val="FFFFFF"/>
          </a:solidFill>
          <a:ln>
            <a:solidFill>
              <a:srgbClr val="D9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217627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0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3.46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688336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经营利润  /  USD bn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5864" y="2057400"/>
            <a:ext cx="3593592" cy="1033271"/>
          </a:xfrm>
          <a:prstGeom prst="rect">
            <a:avLst/>
          </a:prstGeom>
          <a:solidFill>
            <a:srgbClr val="FFFFFF"/>
          </a:solidFill>
          <a:ln>
            <a:solidFill>
              <a:srgbClr val="D9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0456" y="217627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0">
                <a:solidFill>
                  <a:srgbClr val="E88A3D"/>
                </a:solidFill>
                <a:latin typeface="Arial"/>
                <a:ea typeface="PingFang SC"/>
              </a:defRPr>
            </a:pPr>
            <a:r>
              <a:t>-8.43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2688336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自由现金流  /  USD bn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76472"/>
            <a:ext cx="6485376" cy="530352"/>
          </a:xfrm>
          <a:prstGeom prst="rect">
            <a:avLst/>
          </a:prstGeom>
          <a:solidFill>
            <a:srgbClr val="126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25456" y="3776472"/>
            <a:ext cx="685519" cy="530352"/>
          </a:xfrm>
          <a:prstGeom prst="rect">
            <a:avLst/>
          </a:prstGeom>
          <a:solidFill>
            <a:srgbClr val="00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10976" y="3776472"/>
            <a:ext cx="455380" cy="530352"/>
          </a:xfrm>
          <a:prstGeom prst="rect">
            <a:avLst/>
          </a:prstGeom>
          <a:solidFill>
            <a:srgbClr val="E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66357" y="3776472"/>
            <a:ext cx="1352483" cy="530352"/>
          </a:xfrm>
          <a:prstGeom prst="rect">
            <a:avLst/>
          </a:prstGeom>
          <a:solidFill>
            <a:srgbClr val="22B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18841" y="3776472"/>
            <a:ext cx="1948318" cy="530352"/>
          </a:xfrm>
          <a:prstGeom prst="rect">
            <a:avLst/>
          </a:prstGeom>
          <a:solidFill>
            <a:srgbClr val="766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40156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外部收入结构：汽车与服务仍占59.4%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572000"/>
            <a:ext cx="109728" cy="109728"/>
          </a:xfrm>
          <a:prstGeom prst="rect">
            <a:avLst/>
          </a:prstGeom>
          <a:solidFill>
            <a:srgbClr val="126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45262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汽车与服务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489204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300" b="0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59.4%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98648" y="4572000"/>
            <a:ext cx="109728" cy="109728"/>
          </a:xfrm>
          <a:prstGeom prst="rect">
            <a:avLst/>
          </a:prstGeom>
          <a:solidFill>
            <a:srgbClr val="00A8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81528" y="45262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能源与储能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81528" y="489204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300" b="0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6.3%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38928" y="4572000"/>
            <a:ext cx="109728" cy="109728"/>
          </a:xfrm>
          <a:prstGeom prst="rect">
            <a:avLst/>
          </a:prstGeom>
          <a:solidFill>
            <a:srgbClr val="E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21808" y="45262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航天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21808" y="489204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300" b="0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4.2%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79208" y="4572000"/>
            <a:ext cx="109728" cy="109728"/>
          </a:xfrm>
          <a:prstGeom prst="rect">
            <a:avLst/>
          </a:prstGeom>
          <a:solidFill>
            <a:srgbClr val="22B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62088" y="45262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卫星连接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62088" y="489204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300" b="0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12.4%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19488" y="4572000"/>
            <a:ext cx="109728" cy="109728"/>
          </a:xfrm>
          <a:prstGeom prst="rect">
            <a:avLst/>
          </a:prstGeom>
          <a:solidFill>
            <a:srgbClr val="766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02368" y="45262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超级智能 SI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02368" y="4892040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300" b="0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17.8%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623560"/>
            <a:ext cx="10927080" cy="420624"/>
          </a:xfrm>
          <a:prstGeom prst="rect">
            <a:avLst/>
          </a:prstGeom>
          <a:solidFill>
            <a:srgbClr val="E9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528" y="5705856"/>
            <a:ext cx="10607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7899C"/>
                </a:solidFill>
                <a:latin typeface="Arial"/>
                <a:ea typeface="PingFang SC"/>
              </a:defRPr>
            </a:pPr>
            <a:r>
              <a:t>收入规模扩大 ≠ 自由现金流改善；尚未确认任何可计入模型的经营协同。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02336"/>
            <a:ext cx="118872" cy="164592"/>
          </a:xfrm>
          <a:prstGeom prst="rect">
            <a:avLst/>
          </a:prstGeom>
          <a:solidFill>
            <a:srgbClr val="0789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56616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ORBIT  /  投资委员会内部讨论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56616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2026.10.22    /  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卫星连接支撑当季利润，SI吸收最多资本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0876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利润桥统一到经营利润口径 · 十亿美元 · Tesla分部先列毛利再扣总经营费用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18504"/>
            <a:ext cx="11064240" cy="9144"/>
          </a:xfrm>
          <a:prstGeom prst="rect">
            <a:avLst/>
          </a:prstGeom>
          <a:solidFill>
            <a:srgbClr val="D9E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来源：S3分部表pp.3–7；T2附注14；T3 p.27。SI资本开支16.444；利润不是现金。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597249"/>
            <a:ext cx="932688" cy="1660550"/>
          </a:xfrm>
          <a:prstGeom prst="rect">
            <a:avLst/>
          </a:prstGeom>
          <a:solidFill>
            <a:srgbClr val="22B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68065"/>
            <a:ext cx="11338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+4.540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40680"/>
            <a:ext cx="1143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汽车毛利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19" y="3266602"/>
            <a:ext cx="932688" cy="330647"/>
          </a:xfrm>
          <a:prstGeom prst="rect">
            <a:avLst/>
          </a:prstGeom>
          <a:solidFill>
            <a:srgbClr val="22B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79" y="2937418"/>
            <a:ext cx="11338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+0.904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79" y="5440680"/>
            <a:ext cx="1143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能源毛利¹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3266602"/>
            <a:ext cx="932688" cy="1746869"/>
          </a:xfrm>
          <a:prstGeom prst="rect">
            <a:avLst/>
          </a:prstGeom>
          <a:solidFill>
            <a:srgbClr val="E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2937418"/>
            <a:ext cx="11338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-4.776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5440680"/>
            <a:ext cx="1143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Tesla经营费用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5013472"/>
            <a:ext cx="932688" cy="32004"/>
          </a:xfrm>
          <a:prstGeom prst="rect">
            <a:avLst/>
          </a:prstGeom>
          <a:solidFill>
            <a:srgbClr val="E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4684288"/>
            <a:ext cx="11338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-0.007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5440680"/>
            <a:ext cx="1143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航天经营利润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4150278"/>
            <a:ext cx="932688" cy="865753"/>
          </a:xfrm>
          <a:prstGeom prst="rect">
            <a:avLst/>
          </a:prstGeom>
          <a:solidFill>
            <a:srgbClr val="22B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3821094"/>
            <a:ext cx="11338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+2.367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440680"/>
            <a:ext cx="1143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连接经营利润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12280" y="3992636"/>
            <a:ext cx="932688" cy="157642"/>
          </a:xfrm>
          <a:prstGeom prst="rect">
            <a:avLst/>
          </a:prstGeom>
          <a:solidFill>
            <a:srgbClr val="22B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3663452"/>
            <a:ext cx="11338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+0.431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5440680"/>
            <a:ext cx="1143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SI经营利润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992636"/>
            <a:ext cx="932688" cy="1265163"/>
          </a:xfrm>
          <a:prstGeom prst="rect">
            <a:avLst/>
          </a:prstGeom>
          <a:solidFill>
            <a:srgbClr val="0789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0" y="3663452"/>
            <a:ext cx="11338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3.459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5440680"/>
            <a:ext cx="1143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备考经营利润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64040" y="2240280"/>
            <a:ext cx="2066543" cy="3502152"/>
          </a:xfrm>
          <a:prstGeom prst="rect">
            <a:avLst/>
          </a:prstGeom>
          <a:solidFill>
            <a:srgbClr val="EA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20" y="246888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7899C"/>
                </a:solidFill>
                <a:latin typeface="Arial"/>
                <a:ea typeface="PingFang SC"/>
              </a:defRPr>
            </a:pPr>
            <a:r>
              <a:t>SI / Q3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20" y="2944368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0">
                <a:solidFill>
                  <a:srgbClr val="E88A3D"/>
                </a:solidFill>
                <a:latin typeface="Arial"/>
                <a:ea typeface="PingFang SC"/>
              </a:defRPr>
            </a:pPr>
            <a:r>
              <a:t>16.44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3557016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资本开支 / USD bn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20" y="417880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900" b="0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2.2×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20" y="4727448"/>
            <a:ext cx="17373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资本开支 / 收入</a:t>
            </a:r>
          </a:p>
          <a:p>
            <a:pPr>
              <a:spcAft>
                <a:spcPts val="600"/>
              </a:spcAft>
              <a:defRPr sz="10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收购后期间不完全可比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2103120"/>
            <a:ext cx="8046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Tesla毛利与SpaceX经营利润须经费用桥接，不能直接相加。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998464"/>
            <a:ext cx="85039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¹ 能源毛利已扣0.050内部毛利；无折旧回转、税收利益或协同假设。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02336"/>
            <a:ext cx="118872" cy="164592"/>
          </a:xfrm>
          <a:prstGeom prst="rect">
            <a:avLst/>
          </a:prstGeom>
          <a:solidFill>
            <a:srgbClr val="0789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56616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ORBIT  /  投资委员会内部讨论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56616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2026.10.22    /  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1,353亿美元流动资产缓冲，仍需面对持续资金消耗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0876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左：当季现金创造与资本投入；右：9月末现金和融资租赁在内的有息负债 · 十亿美元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18504"/>
            <a:ext cx="11064240" cy="9144"/>
          </a:xfrm>
          <a:prstGeom prst="rect">
            <a:avLst/>
          </a:prstGeom>
          <a:solidFill>
            <a:srgbClr val="D9E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来源：S2/S3现金流表；T3 pp.28–31。FCF为OCF减披露资本开支，未覆盖全部投资支出。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Tesla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2423160"/>
            <a:ext cx="1030839" cy="228600"/>
          </a:xfrm>
          <a:prstGeom prst="rect">
            <a:avLst/>
          </a:prstGeom>
          <a:solidFill>
            <a:srgbClr val="22B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03120" y="2752344"/>
            <a:ext cx="778849" cy="228600"/>
          </a:xfrm>
          <a:prstGeom prst="rect">
            <a:avLst/>
          </a:prstGeom>
          <a:solidFill>
            <a:srgbClr val="E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88823" y="240487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6.26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6833" y="273405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4.73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4728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SpaceX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3447288"/>
            <a:ext cx="1585185" cy="228600"/>
          </a:xfrm>
          <a:prstGeom prst="rect">
            <a:avLst/>
          </a:prstGeom>
          <a:solidFill>
            <a:srgbClr val="22B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03120" y="3776472"/>
            <a:ext cx="3224851" cy="228600"/>
          </a:xfrm>
          <a:prstGeom prst="rect">
            <a:avLst/>
          </a:prstGeom>
          <a:solidFill>
            <a:srgbClr val="E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3169" y="342900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9.63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82835" y="3758184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19.59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7141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有限备考合计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03120" y="4471416"/>
            <a:ext cx="2591171" cy="228600"/>
          </a:xfrm>
          <a:prstGeom prst="rect">
            <a:avLst/>
          </a:prstGeom>
          <a:solidFill>
            <a:srgbClr val="22B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03120" y="4800600"/>
            <a:ext cx="3978847" cy="228600"/>
          </a:xfrm>
          <a:prstGeom prst="rect">
            <a:avLst/>
          </a:prstGeom>
          <a:solidFill>
            <a:srgbClr val="E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49155" y="445312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15.74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6831" y="47823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24.17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577840"/>
            <a:ext cx="118872" cy="118872"/>
          </a:xfrm>
          <a:prstGeom prst="rect">
            <a:avLst/>
          </a:prstGeom>
          <a:solidFill>
            <a:srgbClr val="22B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52297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经营现金流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0" y="5577840"/>
            <a:ext cx="118872" cy="118872"/>
          </a:xfrm>
          <a:prstGeom prst="rect">
            <a:avLst/>
          </a:prstGeom>
          <a:solidFill>
            <a:srgbClr val="E8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0632" y="5522976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资本开支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2103120"/>
            <a:ext cx="4023360" cy="3904487"/>
          </a:xfrm>
          <a:prstGeom prst="rect">
            <a:avLst/>
          </a:prstGeom>
          <a:solidFill>
            <a:srgbClr val="FFFFFF"/>
          </a:solidFill>
          <a:ln>
            <a:solidFill>
              <a:srgbClr val="D9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54112" y="233172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现金及短期投资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4112" y="2633472"/>
            <a:ext cx="342900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0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135.30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54112" y="3364991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有息负债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54112" y="3666744"/>
            <a:ext cx="342900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0">
                <a:solidFill>
                  <a:srgbClr val="E88A3D"/>
                </a:solidFill>
                <a:latin typeface="Arial"/>
                <a:ea typeface="PingFang SC"/>
              </a:defRPr>
            </a:pPr>
            <a:r>
              <a:t>48.37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112" y="4398264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净现金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54112" y="4700016"/>
            <a:ext cx="342900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0">
                <a:solidFill>
                  <a:srgbClr val="07899C"/>
                </a:solidFill>
                <a:latin typeface="Arial"/>
                <a:ea typeface="PingFang SC"/>
              </a:defRPr>
            </a:pPr>
            <a:r>
              <a:t>86.94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035040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9M26 FCF：−33.09；TTM简单相加FCF：−35.90。不能以单季消耗机械推算融资期限。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02336"/>
            <a:ext cx="118872" cy="164592"/>
          </a:xfrm>
          <a:prstGeom prst="rect">
            <a:avLst/>
          </a:prstGeom>
          <a:solidFill>
            <a:srgbClr val="0789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56616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ORBIT  /  投资委员会内部讨论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56616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2026.10.22    /  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三种定价基础，使外部SpaceX股东占比落在49%–59%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0876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基准溢价0%；每1股外部SpaceX换取Tesla股数；原Tesla股份保留；交叉持股先注销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18504"/>
            <a:ext cx="11064240" cy="9144"/>
          </a:xfrm>
          <a:prstGeom prst="rect">
            <a:avLst/>
          </a:prstGeom>
          <a:solidFill>
            <a:srgbClr val="D9E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来源：M1/M2行情；S1持股章节；T4持股脚注2。20日为收盘成交量加权近似；倍数12×/4×均为假设。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3584448" cy="3520440"/>
          </a:xfrm>
          <a:prstGeom prst="rect">
            <a:avLst/>
          </a:prstGeom>
          <a:solidFill>
            <a:srgbClr val="FFFFFF"/>
          </a:solidFill>
          <a:ln>
            <a:solidFill>
              <a:srgbClr val="D9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313432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10月21日收盘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880360"/>
            <a:ext cx="301752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600" b="0">
                <a:solidFill>
                  <a:srgbClr val="07899C"/>
                </a:solidFill>
                <a:latin typeface="Arial"/>
                <a:ea typeface="PingFang SC"/>
              </a:defRPr>
            </a:pPr>
            <a:r>
              <a:t>0.4122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547872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股Tesla / 每股SpaceX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" y="4041648"/>
            <a:ext cx="1325678" cy="256032"/>
          </a:xfrm>
          <a:prstGeom prst="rect">
            <a:avLst/>
          </a:prstGeom>
          <a:solidFill>
            <a:srgbClr val="126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48638" y="4041648"/>
            <a:ext cx="1874721" cy="256032"/>
          </a:xfrm>
          <a:prstGeom prst="rect">
            <a:avLst/>
          </a:prstGeom>
          <a:solidFill>
            <a:srgbClr val="22B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434840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Tesla 41.4%  /  SpaceX 58.6%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992624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Musk股份占比  33.5%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61688" y="2103120"/>
            <a:ext cx="3584448" cy="3520440"/>
          </a:xfrm>
          <a:prstGeom prst="rect">
            <a:avLst/>
          </a:prstGeom>
          <a:solidFill>
            <a:srgbClr val="FFFFFF"/>
          </a:solidFill>
          <a:ln>
            <a:solidFill>
              <a:srgbClr val="D9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2313432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20日加权近似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4568" y="2880360"/>
            <a:ext cx="301752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600" b="0">
                <a:solidFill>
                  <a:srgbClr val="07899C"/>
                </a:solidFill>
                <a:latin typeface="Arial"/>
                <a:ea typeface="PingFang SC"/>
              </a:defRPr>
            </a:pPr>
            <a:r>
              <a:t>0.4234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3547872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股Tesla / 每股SpaceX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44568" y="4041648"/>
            <a:ext cx="1304939" cy="256032"/>
          </a:xfrm>
          <a:prstGeom prst="rect">
            <a:avLst/>
          </a:prstGeom>
          <a:solidFill>
            <a:srgbClr val="126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49507" y="4041648"/>
            <a:ext cx="1895460" cy="256032"/>
          </a:xfrm>
          <a:prstGeom prst="rect">
            <a:avLst/>
          </a:prstGeom>
          <a:solidFill>
            <a:srgbClr val="22B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4434840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Tesla 40.8%  /  SpaceX 59.2%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992624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Musk股份占比  33.7%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83296" y="2103120"/>
            <a:ext cx="3584448" cy="3520440"/>
          </a:xfrm>
          <a:prstGeom prst="rect">
            <a:avLst/>
          </a:prstGeom>
          <a:solidFill>
            <a:srgbClr val="FFFFFF"/>
          </a:solidFill>
          <a:ln>
            <a:solidFill>
              <a:srgbClr val="D9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6175" y="2313432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假设EV/营收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5" y="2880360"/>
            <a:ext cx="3017520" cy="576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600" b="0">
                <a:solidFill>
                  <a:srgbClr val="07899C"/>
                </a:solidFill>
                <a:latin typeface="Arial"/>
                <a:ea typeface="PingFang SC"/>
              </a:defRPr>
            </a:pPr>
            <a:r>
              <a:t>0.2812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5" y="3547872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股Tesla / 每股SpaceX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66175" y="4041648"/>
            <a:ext cx="1628918" cy="256032"/>
          </a:xfrm>
          <a:prstGeom prst="rect">
            <a:avLst/>
          </a:prstGeom>
          <a:solidFill>
            <a:srgbClr val="126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95094" y="4041648"/>
            <a:ext cx="1571481" cy="256032"/>
          </a:xfrm>
          <a:prstGeom prst="rect">
            <a:avLst/>
          </a:prstGeom>
          <a:solidFill>
            <a:srgbClr val="22B5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66175" y="4434840"/>
            <a:ext cx="32004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Tesla 50.9%  /  SpaceX 49.1%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6175" y="4992624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Musk股份占比  31.0%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" y="5907024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Musk股份占比不等于表决权；基础持股包含限制股但剔除尚未行权期权与不可支配未达标奖励。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8912" y="402336"/>
            <a:ext cx="118872" cy="164592"/>
          </a:xfrm>
          <a:prstGeom prst="rect">
            <a:avLst/>
          </a:prstGeom>
          <a:solidFill>
            <a:srgbClr val="0789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56616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ORBIT  /  投资委员会内部讨论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56616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  <a:defRPr sz="10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2026.10.22    /  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先完成持股、对账与资金核验，再判断交易是否创造价值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08760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现阶段的模型提供可复核的讨论起点；不包含购买价分摊，也没有假设已实现协同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18504"/>
            <a:ext cx="11064240" cy="9144"/>
          </a:xfrm>
          <a:prstGeom prst="rect">
            <a:avLst/>
          </a:prstGeom>
          <a:solidFill>
            <a:srgbClr val="D9E6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8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来源：T2附注2/13；T4奖励与关联交易；S1/S2关联交易。研究展示用途，不构成投资建议。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557784" cy="557784"/>
          </a:xfrm>
          <a:prstGeom prst="rect">
            <a:avLst/>
          </a:prstGeom>
          <a:solidFill>
            <a:srgbClr val="E4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22677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7899C"/>
                </a:solidFill>
                <a:latin typeface="Arial"/>
                <a:ea typeface="PingFang SC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2167128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股份与控制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2148840"/>
            <a:ext cx="47548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确认期末股份登记、期权及限制股；</a:t>
            </a:r>
          </a:p>
          <a:p>
            <a:pPr>
              <a:spcAft>
                <a:spcPts val="600"/>
              </a:spcAft>
              <a:defRPr sz="14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明确投票权和奖励的合并触发条件。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2194560"/>
            <a:ext cx="2468880" cy="484632"/>
          </a:xfrm>
          <a:prstGeom prst="rect">
            <a:avLst/>
          </a:prstGeom>
          <a:solidFill>
            <a:srgbClr val="FFFFFF"/>
          </a:solidFill>
          <a:ln>
            <a:solidFill>
              <a:srgbClr val="D9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231343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7899C"/>
                </a:solidFill>
                <a:latin typeface="Arial"/>
                <a:ea typeface="PingFang SC"/>
              </a:defRPr>
            </a:pPr>
            <a:r>
              <a:t>直接改变换股与稀释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346704"/>
            <a:ext cx="557784" cy="557784"/>
          </a:xfrm>
          <a:prstGeom prst="rect">
            <a:avLst/>
          </a:prstGeom>
          <a:solidFill>
            <a:srgbClr val="E4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346557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7899C"/>
                </a:solidFill>
                <a:latin typeface="Arial"/>
                <a:ea typeface="PingFang SC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3364992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内部交易与资产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752" y="3346704"/>
            <a:ext cx="47548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对账729应收与648递延收入；</a:t>
            </a:r>
          </a:p>
          <a:p>
            <a:pPr>
              <a:spcAft>
                <a:spcPts val="600"/>
              </a:spcAft>
              <a:defRPr sz="14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核对历史资本化毛利、折旧及税务。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3392424"/>
            <a:ext cx="2468880" cy="484632"/>
          </a:xfrm>
          <a:prstGeom prst="rect">
            <a:avLst/>
          </a:prstGeom>
          <a:solidFill>
            <a:srgbClr val="FFFFFF"/>
          </a:solidFill>
          <a:ln>
            <a:solidFill>
              <a:srgbClr val="D9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351129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7899C"/>
                </a:solidFill>
                <a:latin typeface="Arial"/>
                <a:ea typeface="PingFang SC"/>
              </a:defRPr>
            </a:pPr>
            <a:r>
              <a:t>改变利润与净资产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544568"/>
            <a:ext cx="557784" cy="557784"/>
          </a:xfrm>
          <a:prstGeom prst="rect">
            <a:avLst/>
          </a:prstGeom>
          <a:solidFill>
            <a:srgbClr val="E4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46634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7899C"/>
                </a:solidFill>
                <a:latin typeface="Arial"/>
                <a:ea typeface="PingFang SC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4562856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7394E"/>
                </a:solidFill>
                <a:latin typeface="Arial"/>
                <a:ea typeface="PingFang SC"/>
              </a:defRPr>
            </a:pPr>
            <a:r>
              <a:t>现金与承诺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0752" y="4544568"/>
            <a:ext cx="47548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核实可动用现金、债务约束、</a:t>
            </a:r>
          </a:p>
          <a:p>
            <a:pPr>
              <a:spcAft>
                <a:spcPts val="600"/>
              </a:spcAft>
              <a:defRPr sz="1400" b="0">
                <a:solidFill>
                  <a:srgbClr val="647E8F"/>
                </a:solidFill>
                <a:latin typeface="Arial"/>
                <a:ea typeface="PingFang SC"/>
              </a:defRPr>
            </a:pPr>
            <a:r>
              <a:t>SI投资预算及Cursor后续股份费用。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4590288"/>
            <a:ext cx="2468880" cy="484632"/>
          </a:xfrm>
          <a:prstGeom prst="rect">
            <a:avLst/>
          </a:prstGeom>
          <a:solidFill>
            <a:srgbClr val="FFFFFF"/>
          </a:solidFill>
          <a:ln>
            <a:solidFill>
              <a:srgbClr val="D9E6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470916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7899C"/>
                </a:solidFill>
                <a:latin typeface="Arial"/>
                <a:ea typeface="PingFang SC"/>
              </a:defRPr>
            </a:pPr>
            <a:r>
              <a:t>决定融资与整合可行性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888736"/>
            <a:ext cx="10881360" cy="301752"/>
          </a:xfrm>
          <a:prstGeom prst="rect">
            <a:avLst/>
          </a:prstGeom>
          <a:solidFill>
            <a:srgbClr val="E8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5925312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7899C"/>
                </a:solidFill>
                <a:latin typeface="Arial"/>
                <a:ea typeface="PingFang SC"/>
              </a:defRPr>
            </a:pPr>
            <a:r>
              <a:t>决策门槛：可验证的协同方案 ＋ 完整现金预算 ＋ 可审核的公平换股与治理安排。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