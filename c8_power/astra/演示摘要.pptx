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8B84"/>
                </a:solidFill>
                <a:latin typeface="等线"/>
              </a:defRPr>
            </a:pPr>
            <a:r>
              <a:t>FIELD NOTES  /  ENERGY ×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3749"/>
                </a:solidFill>
                <a:latin typeface="等线"/>
              </a:defRPr>
            </a:pPr>
            <a:r>
              <a:t>AI 的电从哪来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从数据中心的资本开支，到电网、核电与聚变的商业路径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10972800" cy="10972"/>
          </a:xfrm>
          <a:prstGeom prst="rect">
            <a:avLst/>
          </a:prstGeom>
          <a:solidFill>
            <a:srgbClr val="D4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行业研究与展示 · 非投资建议 · 2026-10-22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411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68B84"/>
                </a:solidFill>
                <a:latin typeface="等线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4864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83749"/>
                </a:solidFill>
                <a:latin typeface="等线"/>
              </a:defRPr>
            </a:pPr>
            <a:r>
              <a:t>先有可交付的电，</a:t>
            </a:r>
          </a:p>
          <a:p>
            <a:pPr>
              <a:spcAft>
                <a:spcPts val="1000"/>
              </a:spcAft>
              <a:defRPr sz="3400" b="1">
                <a:solidFill>
                  <a:srgbClr val="183749"/>
                </a:solidFill>
                <a:latin typeface="等线"/>
              </a:defRPr>
            </a:pPr>
            <a:r>
              <a:t>再有可运行的算力。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400" b="0">
                <a:solidFill>
                  <a:srgbClr val="168B84"/>
                </a:solidFill>
                <a:latin typeface="等线"/>
              </a:defRPr>
            </a:pPr>
            <a:r>
              <a:t>485 → 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24912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18892"/>
                </a:solidFill>
                <a:latin typeface="等线"/>
              </a:defRPr>
            </a:pPr>
            <a:r>
              <a:t>TWh / 2025估计至2030预测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64408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400" b="0">
                <a:solidFill>
                  <a:srgbClr val="168B84"/>
                </a:solidFill>
                <a:latin typeface="等线"/>
              </a:defRPr>
            </a:pPr>
            <a:r>
              <a:t>858.24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94759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18892"/>
                </a:solidFill>
                <a:latin typeface="等线"/>
              </a:defRPr>
            </a:pPr>
            <a:r>
              <a:t>亿美元 / Meta 2026前三季Capex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334256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400" b="0">
                <a:solidFill>
                  <a:srgbClr val="168B84"/>
                </a:solidFill>
                <a:latin typeface="等线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864608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18892"/>
                </a:solidFill>
                <a:latin typeface="等线"/>
              </a:defRPr>
            </a:pPr>
            <a:r>
              <a:t>聚变在基准供电模型中的贡献假设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897880"/>
            <a:ext cx="109728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需求：IEA，2026-04-16，D03/D04；Meta：用户原件，2026-10-21，K01；聚变：A08，研究假设。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8B84"/>
                </a:solidFill>
                <a:latin typeface="等线"/>
              </a:defRPr>
            </a:pPr>
            <a:r>
              <a:t>FIELD NOTES  /  ENERGY ×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3749"/>
                </a:solidFill>
                <a:latin typeface="等线"/>
              </a:defRPr>
            </a:pPr>
            <a:r>
              <a:t>需求翻倍，是机房总用电的预测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不是所有数据中心电量都属于 AI；2030 低、高需求均为研究敏感性。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10972800" cy="10972"/>
          </a:xfrm>
          <a:prstGeom prst="rect">
            <a:avLst/>
          </a:prstGeom>
          <a:solidFill>
            <a:srgbClr val="D4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行业研究与展示 · 非投资建议 · 2026-10-22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411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68B84"/>
                </a:solidFill>
                <a:latin typeface="等线"/>
              </a:defRPr>
            </a:pPr>
            <a:r>
              <a:t>02</a:t>
            </a:r>
          </a:p>
        </p:txBody>
      </p:sp>
      <p:pic>
        <p:nvPicPr>
          <p:cNvPr id="8" name="Picture 7" descr="需求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109728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5897880"/>
            <a:ext cx="109728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Excel：D01/D03、K14–K16。2024/2025为IEA估计；2030基准采用2026-04-16版本。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8B84"/>
                </a:solidFill>
                <a:latin typeface="等线"/>
              </a:defRPr>
            </a:pPr>
            <a:r>
              <a:t>FIELD NOTES  /  ENERGY ×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3749"/>
                </a:solidFill>
                <a:latin typeface="等线"/>
              </a:defRPr>
            </a:pPr>
            <a:r>
              <a:t>Meta：支出进入交付密集期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公司指引与已完成投入分开；原始财务数据以所提供季报为准。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10972800" cy="10972"/>
          </a:xfrm>
          <a:prstGeom prst="rect">
            <a:avLst/>
          </a:prstGeom>
          <a:solidFill>
            <a:srgbClr val="D4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行业研究与展示 · 非投资建议 · 2026-10-22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411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68B84"/>
                </a:solidFill>
                <a:latin typeface="等线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3566160" cy="1554480"/>
          </a:xfrm>
          <a:prstGeom prst="rect">
            <a:avLst/>
          </a:prstGeom>
          <a:solidFill>
            <a:srgbClr val="E7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32004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68B84"/>
                </a:solidFill>
                <a:latin typeface="等线"/>
              </a:defRPr>
            </a:pPr>
            <a:r>
              <a:t>858.24 亿美元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3200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前三季度Capex / 含租赁本金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331720"/>
            <a:ext cx="3566160" cy="1554480"/>
          </a:xfrm>
          <a:prstGeom prst="rect">
            <a:avLst/>
          </a:prstGeom>
          <a:solidFill>
            <a:srgbClr val="E7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560320"/>
            <a:ext cx="32004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68B84"/>
                </a:solidFill>
                <a:latin typeface="等线"/>
              </a:defRPr>
            </a:pPr>
            <a:r>
              <a:t>71.4%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246120"/>
            <a:ext cx="3200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资本开支同比增长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331720"/>
            <a:ext cx="3566160" cy="1554480"/>
          </a:xfrm>
          <a:prstGeom prst="rect">
            <a:avLst/>
          </a:prstGeom>
          <a:solidFill>
            <a:srgbClr val="E7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2560320"/>
            <a:ext cx="32004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68B84"/>
                </a:solidFill>
                <a:latin typeface="等线"/>
              </a:defRPr>
            </a:pPr>
            <a:r>
              <a:t>894.99 亿美元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3246120"/>
            <a:ext cx="3200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2026年9月末在建工程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07899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83749"/>
                </a:solidFill>
                <a:latin typeface="等线"/>
              </a:defRPr>
            </a:pPr>
            <a:r>
              <a:t>全年指引 1,350–1,450 亿美元 → 隐含 Q4 支出 491.76–591.76 亿美元</a:t>
            </a:r>
          </a:p>
          <a:p>
            <a:pPr>
              <a:spcAft>
                <a:spcPts val="1000"/>
              </a:spcAft>
              <a:defRPr sz="2000" b="0">
                <a:solidFill>
                  <a:srgbClr val="183749"/>
                </a:solidFill>
                <a:latin typeface="等线"/>
              </a:defRPr>
            </a:pPr>
            <a:r>
              <a:t>在建工程和资本开支不是已通电容量；不能直接换算成 AI 用电量。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897880"/>
            <a:ext cx="109728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F1：Meta 2026Q3，签署2026-10-21；现金流量表、Note 6、MD&amp;A；M01/M02/M06/M07/M09，K01/K03/K04/K05。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8B84"/>
                </a:solidFill>
                <a:latin typeface="等线"/>
              </a:defRPr>
            </a:pPr>
            <a:r>
              <a:t>FIELD NOTES  /  ENERGY ×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3749"/>
                </a:solidFill>
                <a:latin typeface="等线"/>
              </a:defRPr>
            </a:pPr>
            <a:r>
              <a:t>现实供给：电网连接多类电源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长期协议增强收入与供电确定性，但不自动消除交付瓶颈。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10972800" cy="10972"/>
          </a:xfrm>
          <a:prstGeom prst="rect">
            <a:avLst/>
          </a:prstGeom>
          <a:solidFill>
            <a:srgbClr val="D4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行业研究与展示 · 非投资建议 · 2026-10-22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411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68B84"/>
                </a:solidFill>
                <a:latin typeface="等线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10789920" cy="530352"/>
          </a:xfrm>
          <a:prstGeom prst="rect">
            <a:avLst/>
          </a:prstGeom>
          <a:solidFill>
            <a:srgbClr val="E8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28346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68B84"/>
                </a:solidFill>
                <a:latin typeface="等线"/>
              </a:defRPr>
            </a:pPr>
            <a:r>
              <a:t>电网与燃气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13432"/>
            <a:ext cx="74980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接入、变压器、燃机和气源决定通电速度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10789920" cy="530352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28346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68B84"/>
                </a:solidFill>
                <a:latin typeface="等线"/>
              </a:defRPr>
            </a:pPr>
            <a:r>
              <a:t>Crane → Microsoft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53512"/>
            <a:ext cx="74980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约835 MW / 20年；重启、许可与接入条件仍需落实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10789920" cy="530352"/>
          </a:xfrm>
          <a:prstGeom prst="rect">
            <a:avLst/>
          </a:prstGeom>
          <a:solidFill>
            <a:srgbClr val="E8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93592"/>
            <a:ext cx="28346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68B84"/>
                </a:solidFill>
                <a:latin typeface="等线"/>
              </a:defRPr>
            </a:pPr>
            <a:r>
              <a:t>Clinton → Meta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93592"/>
            <a:ext cx="74980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1,121 MW / 20年；主要保留存量，计划增容30 MW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10789920" cy="530352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28346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68B84"/>
                </a:solidFill>
                <a:latin typeface="等线"/>
              </a:defRPr>
            </a:pPr>
            <a:r>
              <a:t>Talen → 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33672"/>
            <a:ext cx="74980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最高1,920 MW，期限至2042年；逐步达到满合约量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00600"/>
            <a:ext cx="10789920" cy="530352"/>
          </a:xfrm>
          <a:prstGeom prst="rect">
            <a:avLst/>
          </a:prstGeom>
          <a:solidFill>
            <a:srgbClr val="E8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73752"/>
            <a:ext cx="28346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68B84"/>
                </a:solidFill>
                <a:latin typeface="等线"/>
              </a:defRPr>
            </a:pPr>
            <a:r>
              <a:t>可再生能源 + 储能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73752"/>
            <a:ext cx="74980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低发电成本需要叠加时段匹配、输送与保供成本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897880"/>
            <a:ext cx="109728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F2，2026-02-24；F3，2026-08-06；S7，2025-06-03；S8，2025-06-11。Meta买清洁属性，Clinton电力仍流入当地电网。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8B84"/>
                </a:solidFill>
                <a:latin typeface="等线"/>
              </a:defRPr>
            </a:pPr>
            <a:r>
              <a:t>FIELD NOTES  /  ENERGY ×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3749"/>
                </a:solidFill>
                <a:latin typeface="等线"/>
              </a:defRPr>
            </a:pPr>
            <a:r>
              <a:t>聚变：投资与购电协议，尚需净电力证明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金额为所列轮次或时点；公司目标不是既成商业供电。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10972800" cy="10972"/>
          </a:xfrm>
          <a:prstGeom prst="rect">
            <a:avLst/>
          </a:prstGeom>
          <a:solidFill>
            <a:srgbClr val="D4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行业研究与展示 · 非投资建议 · 2026-10-22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411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68B84"/>
                </a:solidFill>
                <a:latin typeface="等线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10789920" cy="603504"/>
          </a:xfrm>
          <a:prstGeom prst="rect">
            <a:avLst/>
          </a:prstGeom>
          <a:solidFill>
            <a:srgbClr val="E8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68B84"/>
                </a:solidFill>
                <a:latin typeface="等线"/>
              </a:defRPr>
            </a:pPr>
            <a:r>
              <a:t>CFS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95728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3749"/>
                </a:solidFill>
                <a:latin typeface="等线"/>
              </a:defRPr>
            </a:pPr>
            <a:r>
              <a:t>B2轮 8.63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395728"/>
            <a:ext cx="5394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Google 200 MW；ARC目标2030年代初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17520"/>
            <a:ext cx="10789920" cy="603504"/>
          </a:xfrm>
          <a:prstGeom prst="rect">
            <a:avLst/>
          </a:prstGeom>
          <a:solidFill>
            <a:srgbClr val="E8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68B84"/>
                </a:solidFill>
                <a:latin typeface="等线"/>
              </a:defRPr>
            </a:pPr>
            <a:r>
              <a:t>Helion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27248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3749"/>
                </a:solidFill>
                <a:latin typeface="等线"/>
              </a:defRPr>
            </a:pPr>
            <a:r>
              <a:t>G轮最终 5 亿美元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127248"/>
            <a:ext cx="5394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Microsoft：2028上线目标，爬坡后≥50 MW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49039"/>
            <a:ext cx="10789920" cy="603504"/>
          </a:xfrm>
          <a:prstGeom prst="rect">
            <a:avLst/>
          </a:prstGeom>
          <a:solidFill>
            <a:srgbClr val="E8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68B84"/>
                </a:solidFill>
                <a:latin typeface="等线"/>
              </a:defRPr>
            </a:pPr>
            <a:r>
              <a:t>TAE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58768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3749"/>
                </a:solidFill>
                <a:latin typeface="等线"/>
              </a:defRPr>
            </a:pPr>
            <a:r>
              <a:t>新轮 &gt;1.5 亿美元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58768"/>
            <a:ext cx="5394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Google投资不等于PPA；拟议并购仍在推进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80560"/>
            <a:ext cx="10789920" cy="603504"/>
          </a:xfrm>
          <a:prstGeom prst="rect">
            <a:avLst/>
          </a:prstGeom>
          <a:solidFill>
            <a:srgbClr val="E8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68B84"/>
                </a:solidFill>
                <a:latin typeface="等线"/>
              </a:defRPr>
            </a:pPr>
            <a:r>
              <a:t>Type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90288"/>
            <a:ext cx="2926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83749"/>
                </a:solidFill>
                <a:latin typeface="等线"/>
              </a:defRPr>
            </a:pPr>
            <a:r>
              <a:t>B轮 2 亿美元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590288"/>
            <a:ext cx="5394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83749"/>
                </a:solidFill>
                <a:latin typeface="等线"/>
              </a:defRPr>
            </a:pPr>
            <a:r>
              <a:t>Infinity Two商业运行目标2034年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897880"/>
            <a:ext cx="109728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S9 2025-08-28；S10 2025-06-30；S11 2026-06-04/9月更新；S12 2023-05-10；S13 2025-06-02；S14 2026-09-30；S15 2026-10-06；S16 2026-05-06。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8B84"/>
                </a:solidFill>
                <a:latin typeface="等线"/>
              </a:defRPr>
            </a:pPr>
            <a:r>
              <a:t>FIELD NOTES  /  ENERGY ×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3749"/>
                </a:solidFill>
                <a:latin typeface="等线"/>
              </a:defRPr>
            </a:pPr>
            <a:r>
              <a:t>交付电价，不能用发电 LCOE 代替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独立假设算例：1 GW IT功率 × 85%负载率 × 1.20 PUE × 8,760小时。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10972800" cy="10972"/>
          </a:xfrm>
          <a:prstGeom prst="rect">
            <a:avLst/>
          </a:prstGeom>
          <a:solidFill>
            <a:srgbClr val="D4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行业研究与展示 · 非投资建议 · 2026-10-22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411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68B84"/>
                </a:solidFill>
                <a:latin typeface="等线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5720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4300" b="0">
                <a:solidFill>
                  <a:srgbClr val="168B84"/>
                </a:solidFill>
                <a:latin typeface="等线"/>
              </a:defRPr>
            </a:pPr>
            <a:r>
              <a:t>8.9352 TWh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3756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18892"/>
                </a:solidFill>
                <a:latin typeface="等线"/>
              </a:defRPr>
            </a:pPr>
            <a:r>
              <a:t>示例年用电 / 不是公司预测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331720"/>
            <a:ext cx="1783080" cy="2560320"/>
          </a:xfrm>
          <a:prstGeom prst="rect">
            <a:avLst/>
          </a:prstGeom>
          <a:solidFill>
            <a:srgbClr val="E4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606040"/>
            <a:ext cx="1417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168B84"/>
                </a:solidFill>
                <a:latin typeface="等线"/>
              </a:defRPr>
            </a:pPr>
            <a: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163824"/>
            <a:ext cx="1417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18892"/>
                </a:solidFill>
                <a:latin typeface="等线"/>
              </a:defRPr>
            </a:pPr>
            <a:r>
              <a:t>美元/MWh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822191"/>
            <a:ext cx="1417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83749"/>
                </a:solidFill>
                <a:latin typeface="等线"/>
              </a:defRPr>
            </a:pPr>
            <a:r>
              <a:t>5.36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70832"/>
            <a:ext cx="14173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718892"/>
                </a:solidFill>
                <a:latin typeface="等线"/>
              </a:defRPr>
            </a:pPr>
            <a:r>
              <a:t>亿美元 / 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331720"/>
            <a:ext cx="1783080" cy="2560320"/>
          </a:xfrm>
          <a:prstGeom prst="rect">
            <a:avLst/>
          </a:prstGeom>
          <a:solidFill>
            <a:srgbClr val="E4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606040"/>
            <a:ext cx="1417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168B84"/>
                </a:solidFill>
                <a:latin typeface="等线"/>
              </a:defRPr>
            </a:pPr>
            <a: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63824"/>
            <a:ext cx="1417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18892"/>
                </a:solidFill>
                <a:latin typeface="等线"/>
              </a:defRPr>
            </a:pPr>
            <a:r>
              <a:t>美元/MWh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22191"/>
            <a:ext cx="1417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83749"/>
                </a:solidFill>
                <a:latin typeface="等线"/>
              </a:defRPr>
            </a:pPr>
            <a:r>
              <a:t>8.04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70832"/>
            <a:ext cx="14173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718892"/>
                </a:solidFill>
                <a:latin typeface="等线"/>
              </a:defRPr>
            </a:pPr>
            <a:r>
              <a:t>亿美元 / 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2331720"/>
            <a:ext cx="1783080" cy="2560320"/>
          </a:xfrm>
          <a:prstGeom prst="rect">
            <a:avLst/>
          </a:prstGeom>
          <a:solidFill>
            <a:srgbClr val="E4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2606040"/>
            <a:ext cx="1417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168B84"/>
                </a:solidFill>
                <a:latin typeface="等线"/>
              </a:defRPr>
            </a:pPr>
            <a:r>
              <a:t>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3163824"/>
            <a:ext cx="1417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18892"/>
                </a:solidFill>
                <a:latin typeface="等线"/>
              </a:defRPr>
            </a:pPr>
            <a:r>
              <a:t>美元/MWh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59" y="3822191"/>
            <a:ext cx="1417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83749"/>
                </a:solidFill>
                <a:latin typeface="等线"/>
              </a:defRPr>
            </a:pPr>
            <a:r>
              <a:t>10.72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4370832"/>
            <a:ext cx="14173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718892"/>
                </a:solidFill>
                <a:latin typeface="等线"/>
              </a:defRPr>
            </a:pPr>
            <a:r>
              <a:t>亿美元 / 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106984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83749"/>
                </a:solidFill>
                <a:latin typeface="等线"/>
              </a:defRPr>
            </a:pPr>
            <a:r>
              <a:t>核电与光伏的年电量等效，不代表相同的逐时保供能力。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897880"/>
            <a:ext cx="109728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A09–A18：全部为研究假设，2026-10-22；K20–K27公式计算。纯电费不含芯片、土地、水、人员等成本。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68B84"/>
                </a:solidFill>
                <a:latin typeface="等线"/>
              </a:defRPr>
            </a:pPr>
            <a:r>
              <a:t>FIELD NOTES  /  ENERGY ×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3749"/>
                </a:solidFill>
                <a:latin typeface="等线"/>
              </a:defRPr>
            </a:pPr>
            <a:r>
              <a:t>把“AI电力”落到可验证的指标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718892"/>
                </a:solidFill>
                <a:latin typeface="等线"/>
              </a:defRPr>
            </a:pPr>
            <a:r>
              <a:t>近端看通电与交付，远端看净电力与可用率。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0800"/>
            <a:ext cx="10972800" cy="10972"/>
          </a:xfrm>
          <a:prstGeom prst="rect">
            <a:avLst/>
          </a:prstGeom>
          <a:solidFill>
            <a:srgbClr val="D4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行业研究与展示 · 非投资建议 · 2026-10-22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411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68B84"/>
                </a:solidFill>
                <a:latin typeface="等线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68B84"/>
                </a:solidFill>
                <a:latin typeface="等线"/>
              </a:defRPr>
            </a:pPr>
            <a:r>
              <a:t>科技公司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32304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83749"/>
                </a:solidFill>
                <a:latin typeface="等线"/>
              </a:defRPr>
            </a:pPr>
            <a:r>
              <a:t>Capex → 在建工程转固 → 已通电GW → 实际TWh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286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68B84"/>
                </a:solidFill>
                <a:latin typeface="等线"/>
              </a:defRPr>
            </a:pPr>
            <a:r>
              <a:t>供电商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438144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83749"/>
                </a:solidFill>
                <a:latin typeface="等线"/>
              </a:defRPr>
            </a:pPr>
            <a:r>
              <a:t>合同 → 许可与接入 → 实际交付 → 实现收入与成本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22860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68B84"/>
                </a:solidFill>
                <a:latin typeface="等线"/>
              </a:defRPr>
            </a:pPr>
            <a:r>
              <a:t>聚变公司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443984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83749"/>
                </a:solidFill>
                <a:latin typeface="等线"/>
              </a:defRPr>
            </a:pPr>
            <a:r>
              <a:t>科学增益 → 全厂净电 → 可维护运行 → 商业交付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6070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718892"/>
                </a:solidFill>
                <a:latin typeface="等线"/>
              </a:defRPr>
            </a:pPr>
            <a:r>
              <a:t>配套：研究报告.docx / 数据表.xlsx / 本地 3D 网页 web/index.html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897880"/>
            <a:ext cx="109728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718892"/>
                </a:solidFill>
                <a:latin typeface="等线"/>
              </a:defRPr>
            </a:pPr>
            <a:r>
              <a:t>上述为研究判断框架。未公开PPA价格、聚变可靠交付与完整项目成本，不用假设冒充事实。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